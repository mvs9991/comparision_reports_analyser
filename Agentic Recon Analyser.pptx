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4" r:id="rId5"/>
    <p:sldId id="263" r:id="rId6"/>
    <p:sldId id="259" r:id="rId7"/>
    <p:sldId id="260"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0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a:ea typeface="Arial"/>
        <a:cs typeface="Arial"/>
      </a:defRPr>
    </a:lvl1pPr>
    <a:lvl2pPr marL="457200" algn="l" defTabSz="914400" rtl="0" eaLnBrk="1" latinLnBrk="0" hangingPunct="1">
      <a:defRPr sz="1200" kern="1200">
        <a:solidFill>
          <a:schemeClr val="tx1"/>
        </a:solidFill>
        <a:latin typeface="Arial"/>
        <a:ea typeface="Arial"/>
        <a:cs typeface="Arial"/>
      </a:defRPr>
    </a:lvl2pPr>
    <a:lvl3pPr marL="914400" algn="l" defTabSz="914400" rtl="0" eaLnBrk="1" latinLnBrk="0" hangingPunct="1">
      <a:defRPr sz="1200" kern="1200">
        <a:solidFill>
          <a:schemeClr val="tx1"/>
        </a:solidFill>
        <a:latin typeface="Arial"/>
        <a:ea typeface="Arial"/>
        <a:cs typeface="Arial"/>
      </a:defRPr>
    </a:lvl3pPr>
    <a:lvl4pPr marL="1371600" algn="l" defTabSz="914400" rtl="0" eaLnBrk="1" latinLnBrk="0" hangingPunct="1">
      <a:defRPr sz="1200" kern="1200">
        <a:solidFill>
          <a:schemeClr val="tx1"/>
        </a:solidFill>
        <a:latin typeface="Arial"/>
        <a:ea typeface="Arial"/>
        <a:cs typeface="Arial"/>
      </a:defRPr>
    </a:lvl4pPr>
    <a:lvl5pPr marL="1828800" algn="l" defTabSz="914400" rtl="0" eaLnBrk="1" latinLnBrk="0" hangingPunct="1">
      <a:defRPr sz="1200" kern="1200">
        <a:solidFill>
          <a:schemeClr val="tx1"/>
        </a:solidFill>
        <a:latin typeface="Arial"/>
        <a:ea typeface="Arial"/>
        <a:cs typeface="Arial"/>
      </a:defRPr>
    </a:lvl5pPr>
    <a:lvl6pPr marL="2286000" algn="l" defTabSz="914400" rtl="0" eaLnBrk="1" latinLnBrk="0" hangingPunct="1">
      <a:defRPr sz="1200" kern="1200">
        <a:solidFill>
          <a:schemeClr val="tx1"/>
        </a:solidFill>
        <a:latin typeface="Arial"/>
        <a:ea typeface="Arial"/>
        <a:cs typeface="Arial"/>
      </a:defRPr>
    </a:lvl6pPr>
    <a:lvl7pPr marL="2743200" algn="l" defTabSz="914400" rtl="0" eaLnBrk="1" latinLnBrk="0" hangingPunct="1">
      <a:defRPr sz="1200" kern="1200">
        <a:solidFill>
          <a:schemeClr val="tx1"/>
        </a:solidFill>
        <a:latin typeface="Arial"/>
        <a:ea typeface="Arial"/>
        <a:cs typeface="Arial"/>
      </a:defRPr>
    </a:lvl7pPr>
    <a:lvl8pPr marL="3200400" algn="l" defTabSz="914400" rtl="0" eaLnBrk="1" latinLnBrk="0" hangingPunct="1">
      <a:defRPr sz="1200" kern="1200">
        <a:solidFill>
          <a:schemeClr val="tx1"/>
        </a:solidFill>
        <a:latin typeface="Arial"/>
        <a:ea typeface="Arial"/>
        <a:cs typeface="Arial"/>
      </a:defRPr>
    </a:lvl8pPr>
    <a:lvl9pPr marL="3657600" algn="l" defTabSz="914400" rtl="0" eaLnBrk="1" latinLnBrk="0" hangingPunct="1">
      <a:defRPr sz="1200" kern="1200">
        <a:solidFill>
          <a:schemeClr val="tx1"/>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Whenever we upgrade a platform or migrate data, we need to be sure the data on both sides matches. We already have an automated utility that compares records across multiple tables and finds the differences. The harder part comes after that: developers still have to go through the mismatches and work out whether each one is only formatting or a real change. The Agentic Recon Analyser takes on that manual effort by analysing the results and presenting the differences in a more meaningful way. We use this process for platform upgrades such as Spark and NiFi, and for external migration comparisons such as ADA-DL in ELCR.</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1</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The existing process already does most of the comparison automatically. We select the tables and columns, the job joins the source and target tables on their primary keys and compares the records, and the rows that don't match are saved, grouped by which columns differ. The time-consuming part starts after that: developers open the results, go through them table by table and work out what actually changed. A number written as 10.00 on one side and 10.0 on the other is probably only formatting, but a change from 100.00 to 150.00 is a real value difference. That manual review is the gap the analyser addresses. Along the bottom is what it adds: it handles millions of records, it puts the important differences first, and it groups the same issue across tables.</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2</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Read left to right. The source tables and the target tables are compared record by record by the existing automated job, which sorts every record into matched, mismatched, added or removed, and keeps the mismatched rows for each distinct set of mismatched columns. That is where the automation used to stop and manual review began. The Agentic Recon Analyser takes over from there, in two layers. On top, an AI agent runs the analyser, reads its results and reports back what needs attention, using the report's own labels. Underneath, rule-based checks decide every label: they classify each differing value, rank each finding by risk, and roll results up so one issue seen in many tables becomes one fix. Two values are only called the same after exact number and date checks. The agent speeds up the work; the checks keep every result provable. The output is an HTML report and an Excel workbook, with the same numbers.</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3</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The main benefit is less manual investigation. Previously a reconciliation run could need roughly four hours of developer review: going through mismatches table by table, sorting formatting noise from real changes, and chasing the same issue again in each table. With the analyser, the analysis is done automatically and the developer reviews the report. Analysing 200 tables takes about a minute, and about fifteen minutes of manual review after the analyser runs is all that is left. That is a saving of about three to four hours per run. The figures are approximate. Beyond the time saved, developers now start from a clear, prioritised list, and the report is available in both HTML and Excel.</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5</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Test cases, part 1 of 4. Each row is one automated test case: the value on the source side, the value on the target side, and the pattern the analyser must name. On the left, integer cases (leading zeros, thousands separators, trailing decimals, sign formats, accounting negatives, scientific notation) and boolean cases (Y and N, true and false, 1 and 0, T and F). On the right, decimal cases (scale, separators, rounding, currency and percent signs) and floating-point cases, where binary noise such as 0.3 against 0.30000000000000004 must be named as noise and not mistaken for a real change. Infinity and NaN are covered too. In all, 79 test cases guard the analyser.</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6</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Test cases, part 2 of 4. On the left, date and timestamp cases (format-only differences, a real date change, time zone markers, epoch values against formatted dates) and null cases (different null spellings, a value missing on either side, the backslash-N marker). On the right, text cases: whitespace, case, accents, encoding loss, truncation, typographic characters, removed punctuation, path separators and a genuinely different status value.</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7</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Test cases, part 3 of 4. These 20 traps are differences that were once wrongly reassuring, or easily could be, and must never be called harmless. These include a one-cent change in a 17-digit amount, a percent sign on one side only, a changed currency, ambiguous decimal commas, a date whose day and month could be swapped, an incomplete date, a nanosecond value cut to microseconds, trailing minus signs that flip the sign, and a number compared with a boolean. One case checks that identical values are reported as having no actual difference.</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8</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Test cases, part 4 of 4. The traps on the previous slide are differences that must never be called harmless. These cases check the opposite risk. When two values are provably the same data written in different formats, such as 13/05/2024 and 2024-05-13 (13 cannot be a month, so there is only one way to read it) or 1,234 and 1234, the analyser classifies the difference as formatting only, not a real change. Values that really differ, such as 100.00 against 150.00, a rounded 99.456789 against 99.460, or two different dates, are reported as real differences. Format-only differences are still listed, because they can matter for joins downstream, but they are kept apart from real changes.</a:t>
            </a:r>
          </a:p>
        </p:txBody>
      </p:sp>
      <p:sp>
        <p:nvSpPr>
          <p:cNvPr id="4" name="Slide Number Placeholder 3"/>
          <p:cNvSpPr>
            <a:spLocks noGrp="1"/>
          </p:cNvSpPr>
          <p:nvPr>
            <p:ph type="sldNum" sz="quarter" idx="10"/>
          </p:nvPr>
        </p:nvSpPr>
        <p:spPr/>
        <p:txBody>
          <a:bodyPr/>
          <a:lstStyle/>
          <a:p>
            <a:fld id="{F7021451-1387-4CA6-816F-3879F97B5CBC}" type="slidenum">
              <a:rPr lang="en-US">
                <a:latin typeface="Arial"/>
              </a:rPr>
              <a:t>9</a:t>
            </a:fld>
            <a:endParaRPr lang="en-US">
              <a:latin typeface="Arial"/>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899120"/>
            <a:ext cx="11277600" cy="408880"/>
          </a:xfrm>
          <a:prstGeom prst="rect">
            <a:avLst/>
          </a:prstGeom>
          <a:noFill/>
          <a:ln/>
        </p:spPr>
        <p:txBody>
          <a:bodyPr wrap="square" lIns="0" tIns="0" rIns="0" bIns="0" rtlCol="0" anchor="t"/>
          <a:lstStyle>
            <a:lvl1pPr marL="0" indent="0" algn="l">
              <a:lnSpc>
                <a:spcPct val="115000"/>
              </a:lnSpc>
              <a:buNone/>
              <a:defRPr lang="en-US" sz="2800" dirty="0">
                <a:solidFill>
                  <a:srgbClr val="152033"/>
                </a:solidFill>
                <a:latin typeface="Arial" pitchFamily="34" charset="0"/>
                <a:ea typeface="Arial" pitchFamily="34" charset="-122"/>
                <a:cs typeface="Arial" pitchFamily="34" charset="-120"/>
              </a:defRPr>
            </a:lvl1pPr>
          </a:lstStyle>
          <a:p>
            <a:pPr marL="0" indent="0" algn="l">
              <a:lnSpc>
                <a:spcPct val="115000"/>
              </a:lnSpc>
              <a:buNone/>
            </a:pPr>
            <a:endParaRPr lang="en-US" sz="2800" dirty="0">
              <a:latin typeface="Arial"/>
            </a:endParaRPr>
          </a:p>
        </p:txBody>
      </p:sp>
      <p:sp>
        <p:nvSpPr>
          <p:cNvPr id="3" name="Text Placeholder 2"/>
          <p:cNvSpPr>
            <a:spLocks noGrp="1"/>
          </p:cNvSpPr>
          <p:nvPr>
            <p:ph type="body" idx="101"/>
          </p:nvPr>
        </p:nvSpPr>
        <p:spPr>
          <a:xfrm>
            <a:off x="457200" y="1612801"/>
            <a:ext cx="10922000" cy="4432399"/>
          </a:xfrm>
          <a:prstGeom prst="rect">
            <a:avLst/>
          </a:prstGeom>
          <a:noFill/>
          <a:ln/>
        </p:spPr>
        <p:txBody>
          <a:bodyPr wrap="square" lIns="0" tIns="0" rIns="0" bIns="0" rtlCol="0" anchor="t"/>
          <a:lstStyle>
            <a:lvl1pPr marL="0" indent="0" algn="l">
              <a:lnSpc>
                <a:spcPct val="140000"/>
              </a:lnSpc>
              <a:buNone/>
              <a:defRPr lang="en-US" sz="1600" dirty="0">
                <a:solidFill>
                  <a:srgbClr val="1520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899120"/>
            <a:ext cx="11277600" cy="408880"/>
          </a:xfrm>
          <a:prstGeom prst="rect">
            <a:avLst/>
          </a:prstGeom>
          <a:noFill/>
          <a:ln/>
        </p:spPr>
        <p:txBody>
          <a:bodyPr wrap="square" lIns="0" tIns="0" rIns="0" bIns="0" rtlCol="0" anchor="t"/>
          <a:lstStyle>
            <a:lvl1pPr marL="0" indent="0" algn="l">
              <a:lnSpc>
                <a:spcPct val="115000"/>
              </a:lnSpc>
              <a:buNone/>
              <a:defRPr lang="en-US" sz="2800" dirty="0">
                <a:solidFill>
                  <a:srgbClr val="152033"/>
                </a:solidFill>
                <a:latin typeface="Arial" pitchFamily="34" charset="0"/>
                <a:ea typeface="Arial" pitchFamily="34" charset="-122"/>
                <a:cs typeface="Arial" pitchFamily="34" charset="-120"/>
              </a:defRPr>
            </a:lvl1pPr>
          </a:lstStyle>
          <a:p>
            <a:pPr marL="0" indent="0" algn="l">
              <a:lnSpc>
                <a:spcPct val="115000"/>
              </a:lnSpc>
              <a:buNone/>
            </a:pPr>
            <a:endParaRPr lang="en-US" sz="2800" dirty="0">
              <a:latin typeface="Arial"/>
            </a:endParaRPr>
          </a:p>
        </p:txBody>
      </p:sp>
      <p:sp>
        <p:nvSpPr>
          <p:cNvPr id="3" name="Text Placeholder 2"/>
          <p:cNvSpPr>
            <a:spLocks noGrp="1"/>
          </p:cNvSpPr>
          <p:nvPr>
            <p:ph type="body" idx="101"/>
          </p:nvPr>
        </p:nvSpPr>
        <p:spPr>
          <a:xfrm>
            <a:off x="457200" y="1612801"/>
            <a:ext cx="10922000" cy="4432399"/>
          </a:xfrm>
          <a:prstGeom prst="rect">
            <a:avLst/>
          </a:prstGeom>
          <a:noFill/>
          <a:ln/>
        </p:spPr>
        <p:txBody>
          <a:bodyPr wrap="square" lIns="0" tIns="0" rIns="0" bIns="0" rtlCol="0" anchor="t"/>
          <a:lstStyle>
            <a:lvl1pPr marL="0" indent="0" algn="l">
              <a:lnSpc>
                <a:spcPct val="140000"/>
              </a:lnSpc>
              <a:buNone/>
              <a:defRPr lang="en-US" sz="1600" dirty="0">
                <a:solidFill>
                  <a:srgbClr val="1520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latin typeface="Aria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Arial"/>
          <a:ea typeface="Arial"/>
          <a:cs typeface="Arial"/>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Arial"/>
          <a:cs typeface="Arial"/>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Arial"/>
          <a:cs typeface="Arial"/>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Arial"/>
          <a:cs typeface="Arial"/>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9pPr>
    </p:bodyStyle>
    <p:otherStyle>
      <a:defPPr>
        <a:defRPr lang="en-US">
          <a:latin typeface="Arial"/>
        </a:defRPr>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6.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slide" Target="slide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A55"/>
                </a:solidFill>
                <a:latin typeface="Arial" pitchFamily="34" charset="0"/>
                <a:ea typeface="Arial" pitchFamily="34" charset="-122"/>
                <a:cs typeface="Arial" pitchFamily="34" charset="-120"/>
              </a:rPr>
              <a:t>DATA MIGRATION RECONCILIATION</a:t>
            </a:r>
            <a:endParaRPr lang="en-US" sz="1200" dirty="0">
              <a:latin typeface="Arial"/>
            </a:endParaRPr>
          </a:p>
        </p:txBody>
      </p:sp>
      <p:sp>
        <p:nvSpPr>
          <p:cNvPr id="3" name="Text 1"/>
          <p:cNvSpPr>
            <a:spLocks noGrp="1"/>
          </p:cNvSpPr>
          <p:nvPr>
            <p:ph type="title"/>
          </p:nvPr>
        </p:nvSpPr>
        <p:spPr>
          <a:xfrm>
            <a:off x="812800" y="1203920"/>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4EF"/>
                </a:solidFill>
                <a:latin typeface="Arial" pitchFamily="18" charset="0"/>
                <a:ea typeface="Arial" pitchFamily="18" charset="-122"/>
                <a:cs typeface="Arial" pitchFamily="18" charset="-120"/>
              </a:rPr>
              <a:t>Agentic Recon Analyser</a:t>
            </a:r>
            <a:endParaRPr lang="en-US" sz="4800" dirty="0">
              <a:latin typeface="Arial"/>
            </a:endParaRPr>
          </a:p>
        </p:txBody>
      </p:sp>
      <p:sp>
        <p:nvSpPr>
          <p:cNvPr id="4" name="Text 2"/>
          <p:cNvSpPr/>
          <p:nvPr/>
        </p:nvSpPr>
        <p:spPr>
          <a:xfrm>
            <a:off x="812800" y="2052241"/>
            <a:ext cx="1088339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08A55"/>
                </a:solidFill>
                <a:latin typeface="Arial" pitchFamily="34" charset="0"/>
                <a:ea typeface="Arial" pitchFamily="34" charset="-122"/>
                <a:cs typeface="Arial" pitchFamily="34" charset="-120"/>
              </a:rPr>
              <a:t> From data comparison to meaningful insights</a:t>
            </a:r>
            <a:endParaRPr lang="en-US" sz="1800" dirty="0">
              <a:latin typeface="Arial"/>
            </a:endParaRPr>
          </a:p>
        </p:txBody>
      </p:sp>
      <p:sp>
        <p:nvSpPr>
          <p:cNvPr id="5" name="Text 3"/>
          <p:cNvSpPr/>
          <p:nvPr/>
        </p:nvSpPr>
        <p:spPr>
          <a:xfrm>
            <a:off x="812800" y="2527201"/>
            <a:ext cx="10883392" cy="98534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2E0"/>
                </a:solidFill>
                <a:latin typeface="Arial" pitchFamily="34" charset="0"/>
                <a:ea typeface="Arial" pitchFamily="34" charset="-122"/>
                <a:cs typeface="Arial" pitchFamily="34" charset="-120"/>
              </a:rPr>
              <a:t>Our reconciliation utility compares source and target data record by record. The analyser builds on it to explain the differences, rank how much they matter and help developers focus on what needs attention.</a:t>
            </a:r>
            <a:endParaRPr lang="en-US" sz="1800" dirty="0">
              <a:latin typeface="Arial"/>
            </a:endParaRPr>
          </a:p>
        </p:txBody>
      </p:sp>
      <p:sp>
        <p:nvSpPr>
          <p:cNvPr id="6" name="Shape 4"/>
          <p:cNvSpPr/>
          <p:nvPr/>
        </p:nvSpPr>
        <p:spPr>
          <a:xfrm>
            <a:off x="815975" y="5095875"/>
            <a:ext cx="3414117" cy="951111"/>
          </a:xfrm>
          <a:prstGeom prst="roundRect">
            <a:avLst>
              <a:gd name="adj" fmla="val 10348"/>
            </a:avLst>
          </a:prstGeom>
          <a:solidFill>
            <a:srgbClr val="1B2840"/>
          </a:solidFill>
          <a:ln w="6350">
            <a:solidFill>
              <a:srgbClr val="33415C"/>
            </a:solidFill>
            <a:prstDash val="solid"/>
          </a:ln>
        </p:spPr>
      </p:sp>
      <p:sp>
        <p:nvSpPr>
          <p:cNvPr id="7" name="Text 5"/>
          <p:cNvSpPr/>
          <p:nvPr/>
        </p:nvSpPr>
        <p:spPr>
          <a:xfrm>
            <a:off x="1022350" y="5302250"/>
            <a:ext cx="30914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E0"/>
                </a:solidFill>
                <a:latin typeface="Arial" pitchFamily="34" charset="0"/>
                <a:ea typeface="Arial" pitchFamily="34" charset="-122"/>
                <a:cs typeface="Arial" pitchFamily="34" charset="-120"/>
              </a:rPr>
              <a:t>Spark upgrade</a:t>
            </a:r>
            <a:endParaRPr lang="en-US" sz="1200" dirty="0">
              <a:latin typeface="Arial"/>
            </a:endParaRPr>
          </a:p>
        </p:txBody>
      </p:sp>
      <p:sp>
        <p:nvSpPr>
          <p:cNvPr id="8" name="Text 6"/>
          <p:cNvSpPr/>
          <p:nvPr/>
        </p:nvSpPr>
        <p:spPr>
          <a:xfrm>
            <a:off x="1022350" y="5566370"/>
            <a:ext cx="30914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Arial" pitchFamily="34" charset="0"/>
                <a:ea typeface="Arial" pitchFamily="34" charset="-122"/>
                <a:cs typeface="Arial" pitchFamily="34" charset="-120"/>
              </a:rPr>
              <a:t>2.x → 3.x</a:t>
            </a:r>
            <a:endParaRPr lang="en-US" sz="1800" dirty="0">
              <a:latin typeface="Arial"/>
            </a:endParaRPr>
          </a:p>
        </p:txBody>
      </p:sp>
      <p:sp>
        <p:nvSpPr>
          <p:cNvPr id="9" name="Shape 7"/>
          <p:cNvSpPr/>
          <p:nvPr/>
        </p:nvSpPr>
        <p:spPr>
          <a:xfrm>
            <a:off x="4388842" y="5095875"/>
            <a:ext cx="3414216" cy="951111"/>
          </a:xfrm>
          <a:prstGeom prst="roundRect">
            <a:avLst>
              <a:gd name="adj" fmla="val 10348"/>
            </a:avLst>
          </a:prstGeom>
          <a:solidFill>
            <a:srgbClr val="1B2840"/>
          </a:solidFill>
          <a:ln w="6350">
            <a:solidFill>
              <a:srgbClr val="33415C"/>
            </a:solidFill>
            <a:prstDash val="solid"/>
          </a:ln>
        </p:spPr>
      </p:sp>
      <p:sp>
        <p:nvSpPr>
          <p:cNvPr id="10" name="Text 8"/>
          <p:cNvSpPr/>
          <p:nvPr/>
        </p:nvSpPr>
        <p:spPr>
          <a:xfrm>
            <a:off x="4595217" y="5302250"/>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E0"/>
                </a:solidFill>
                <a:latin typeface="Arial" pitchFamily="34" charset="0"/>
                <a:ea typeface="Arial" pitchFamily="34" charset="-122"/>
                <a:cs typeface="Arial" pitchFamily="34" charset="-120"/>
              </a:rPr>
              <a:t>NiFi upgrade</a:t>
            </a:r>
            <a:endParaRPr lang="en-US" sz="1200" dirty="0">
              <a:latin typeface="Arial"/>
            </a:endParaRPr>
          </a:p>
        </p:txBody>
      </p:sp>
      <p:sp>
        <p:nvSpPr>
          <p:cNvPr id="11" name="Text 9"/>
          <p:cNvSpPr/>
          <p:nvPr/>
        </p:nvSpPr>
        <p:spPr>
          <a:xfrm>
            <a:off x="4595217" y="5566370"/>
            <a:ext cx="309151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Arial" pitchFamily="34" charset="0"/>
                <a:ea typeface="Arial" pitchFamily="34" charset="-122"/>
                <a:cs typeface="Arial" pitchFamily="34" charset="-120"/>
              </a:rPr>
              <a:t>1.9 → 1.23</a:t>
            </a:r>
            <a:endParaRPr lang="en-US" sz="1800" dirty="0">
              <a:latin typeface="Arial"/>
            </a:endParaRPr>
          </a:p>
        </p:txBody>
      </p:sp>
      <p:sp>
        <p:nvSpPr>
          <p:cNvPr id="12" name="Shape 10"/>
          <p:cNvSpPr/>
          <p:nvPr/>
        </p:nvSpPr>
        <p:spPr>
          <a:xfrm>
            <a:off x="7961809" y="5095875"/>
            <a:ext cx="3414216" cy="951111"/>
          </a:xfrm>
          <a:prstGeom prst="roundRect">
            <a:avLst>
              <a:gd name="adj" fmla="val 10348"/>
            </a:avLst>
          </a:prstGeom>
          <a:solidFill>
            <a:srgbClr val="1B2840"/>
          </a:solidFill>
          <a:ln w="6350">
            <a:solidFill>
              <a:srgbClr val="33415C"/>
            </a:solidFill>
            <a:prstDash val="solid"/>
          </a:ln>
        </p:spPr>
      </p:sp>
      <p:sp>
        <p:nvSpPr>
          <p:cNvPr id="13" name="Text 11"/>
          <p:cNvSpPr/>
          <p:nvPr/>
        </p:nvSpPr>
        <p:spPr>
          <a:xfrm>
            <a:off x="8168184" y="5302250"/>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E0"/>
                </a:solidFill>
                <a:latin typeface="Arial" pitchFamily="34" charset="0"/>
                <a:ea typeface="Arial" pitchFamily="34" charset="-122"/>
                <a:cs typeface="Arial" pitchFamily="34" charset="-120"/>
              </a:rPr>
              <a:t>ELCR migration</a:t>
            </a:r>
            <a:endParaRPr lang="en-US" sz="1200" dirty="0">
              <a:latin typeface="Arial"/>
            </a:endParaRPr>
          </a:p>
        </p:txBody>
      </p:sp>
      <p:sp>
        <p:nvSpPr>
          <p:cNvPr id="14" name="Text 12"/>
          <p:cNvSpPr/>
          <p:nvPr/>
        </p:nvSpPr>
        <p:spPr>
          <a:xfrm>
            <a:off x="8168184" y="5566370"/>
            <a:ext cx="309151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Arial" pitchFamily="34" charset="0"/>
                <a:ea typeface="Arial" pitchFamily="34" charset="-122"/>
                <a:cs typeface="Arial" pitchFamily="34" charset="-120"/>
              </a:rPr>
              <a:t>ADA–DL comparison</a:t>
            </a:r>
            <a:endParaRPr lang="en-US" sz="1800" dirty="0">
              <a:latin typeface="Arial"/>
            </a:endParaRPr>
          </a:p>
        </p:txBody>
      </p:sp>
      <p:sp>
        <p:nvSpPr>
          <p:cNvPr id="15" name="Text 13"/>
          <p:cNvSpPr/>
          <p:nvPr/>
        </p:nvSpPr>
        <p:spPr>
          <a:xfrm>
            <a:off x="812800" y="45364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A6BA"/>
                </a:solidFill>
                <a:latin typeface="Arial" pitchFamily="34" charset="0"/>
                <a:ea typeface="Arial" pitchFamily="34" charset="-122"/>
                <a:cs typeface="Arial" pitchFamily="34" charset="-120"/>
              </a:rPr>
              <a:t>WHERE WE USE IT</a:t>
            </a:r>
            <a:endParaRPr lang="en-US" sz="1200"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716"/>
                </a:solidFill>
                <a:latin typeface="Arial" pitchFamily="34" charset="0"/>
                <a:ea typeface="Arial" pitchFamily="34" charset="-122"/>
                <a:cs typeface="Arial" pitchFamily="34" charset="-120"/>
              </a:rPr>
              <a:t>THE PROBLEM</a:t>
            </a:r>
            <a:endParaRPr lang="en-US" sz="1200" dirty="0">
              <a:latin typeface="Arial"/>
            </a:endParaRPr>
          </a:p>
        </p:txBody>
      </p:sp>
      <p:sp>
        <p:nvSpPr>
          <p:cNvPr id="3" name="Text 1"/>
          <p:cNvSpPr>
            <a:spLocks noGrp="1"/>
          </p:cNvSpPr>
          <p:nvPr>
            <p:ph type="title"/>
          </p:nvPr>
        </p:nvSpPr>
        <p:spPr>
          <a:xfrm>
            <a:off x="812800" y="899120"/>
            <a:ext cx="11379200"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52033"/>
                </a:solidFill>
                <a:latin typeface="Arial" pitchFamily="18" charset="0"/>
                <a:ea typeface="Arial" pitchFamily="18" charset="-122"/>
                <a:cs typeface="Arial" pitchFamily="18" charset="-120"/>
              </a:rPr>
              <a:t>The comparison was automated. Investigating them was not.</a:t>
            </a:r>
            <a:endParaRPr lang="en-US" sz="2800" dirty="0">
              <a:latin typeface="Arial"/>
            </a:endParaRPr>
          </a:p>
        </p:txBody>
      </p:sp>
      <p:sp>
        <p:nvSpPr>
          <p:cNvPr id="4" name="Shape 2"/>
          <p:cNvSpPr/>
          <p:nvPr/>
        </p:nvSpPr>
        <p:spPr>
          <a:xfrm>
            <a:off x="815975" y="1514376"/>
            <a:ext cx="2517775" cy="2863453"/>
          </a:xfrm>
          <a:prstGeom prst="roundRect">
            <a:avLst>
              <a:gd name="adj" fmla="val 3909"/>
            </a:avLst>
          </a:prstGeom>
          <a:solidFill>
            <a:srgbClr val="FFFDF8"/>
          </a:solidFill>
          <a:ln w="6350">
            <a:solidFill>
              <a:srgbClr val="DDD8CC"/>
            </a:solidFill>
            <a:prstDash val="solid"/>
          </a:ln>
        </p:spPr>
      </p:sp>
      <p:sp>
        <p:nvSpPr>
          <p:cNvPr id="5" name="Text 3"/>
          <p:cNvSpPr/>
          <p:nvPr/>
        </p:nvSpPr>
        <p:spPr>
          <a:xfrm>
            <a:off x="996950" y="1695351"/>
            <a:ext cx="222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716"/>
                </a:solidFill>
                <a:latin typeface="Arial" pitchFamily="34" charset="0"/>
                <a:ea typeface="Arial" pitchFamily="34" charset="-122"/>
                <a:cs typeface="Arial" pitchFamily="34" charset="-120"/>
              </a:rPr>
              <a:t>STEP 1</a:t>
            </a:r>
            <a:endParaRPr lang="en-US" sz="1200" dirty="0">
              <a:latin typeface="Arial"/>
            </a:endParaRPr>
          </a:p>
        </p:txBody>
      </p:sp>
      <p:sp>
        <p:nvSpPr>
          <p:cNvPr id="6" name="Text 4"/>
          <p:cNvSpPr/>
          <p:nvPr/>
        </p:nvSpPr>
        <p:spPr>
          <a:xfrm>
            <a:off x="996950" y="1984871"/>
            <a:ext cx="22205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33"/>
                </a:solidFill>
                <a:latin typeface="Arial" pitchFamily="34" charset="0"/>
                <a:ea typeface="Arial" pitchFamily="34" charset="-122"/>
                <a:cs typeface="Arial" pitchFamily="34" charset="-120"/>
              </a:rPr>
              <a:t>Select</a:t>
            </a:r>
            <a:endParaRPr lang="en-US" sz="1800" dirty="0">
              <a:latin typeface="Arial"/>
            </a:endParaRPr>
          </a:p>
        </p:txBody>
      </p:sp>
      <p:sp>
        <p:nvSpPr>
          <p:cNvPr id="7" name="Text 5"/>
          <p:cNvSpPr/>
          <p:nvPr/>
        </p:nvSpPr>
        <p:spPr>
          <a:xfrm>
            <a:off x="996950" y="2335312"/>
            <a:ext cx="22205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Choose the source and target tables and the columns to compare.</a:t>
            </a:r>
            <a:endParaRPr lang="en-US" sz="1200" dirty="0">
              <a:latin typeface="Arial"/>
            </a:endParaRPr>
          </a:p>
        </p:txBody>
      </p:sp>
      <p:sp>
        <p:nvSpPr>
          <p:cNvPr id="8" name="Text 6"/>
          <p:cNvSpPr/>
          <p:nvPr/>
        </p:nvSpPr>
        <p:spPr>
          <a:xfrm>
            <a:off x="996950" y="3983534"/>
            <a:ext cx="222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FB0"/>
                </a:solidFill>
                <a:latin typeface="Arial" pitchFamily="49" charset="0"/>
                <a:ea typeface="Arial" pitchFamily="49" charset="-122"/>
                <a:cs typeface="Arial" pitchFamily="49" charset="-120"/>
              </a:rPr>
              <a:t>tables + columns</a:t>
            </a:r>
            <a:endParaRPr lang="en-US" sz="1200" dirty="0">
              <a:latin typeface="Arial"/>
            </a:endParaRPr>
          </a:p>
        </p:txBody>
      </p:sp>
      <p:sp>
        <p:nvSpPr>
          <p:cNvPr id="9" name="Shape 7"/>
          <p:cNvSpPr/>
          <p:nvPr/>
        </p:nvSpPr>
        <p:spPr>
          <a:xfrm>
            <a:off x="3492500" y="1514376"/>
            <a:ext cx="2517775" cy="2863453"/>
          </a:xfrm>
          <a:prstGeom prst="roundRect">
            <a:avLst>
              <a:gd name="adj" fmla="val 3909"/>
            </a:avLst>
          </a:prstGeom>
          <a:solidFill>
            <a:srgbClr val="FFFDF8"/>
          </a:solidFill>
          <a:ln w="6350">
            <a:solidFill>
              <a:srgbClr val="DDD8CC"/>
            </a:solidFill>
            <a:prstDash val="solid"/>
          </a:ln>
        </p:spPr>
      </p:sp>
      <p:sp>
        <p:nvSpPr>
          <p:cNvPr id="10" name="Text 8"/>
          <p:cNvSpPr/>
          <p:nvPr/>
        </p:nvSpPr>
        <p:spPr>
          <a:xfrm>
            <a:off x="3673475" y="1695351"/>
            <a:ext cx="222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716"/>
                </a:solidFill>
                <a:latin typeface="Arial" pitchFamily="34" charset="0"/>
                <a:ea typeface="Arial" pitchFamily="34" charset="-122"/>
                <a:cs typeface="Arial" pitchFamily="34" charset="-120"/>
              </a:rPr>
              <a:t>STEP 2</a:t>
            </a:r>
            <a:endParaRPr lang="en-US" sz="1200" dirty="0">
              <a:latin typeface="Arial"/>
            </a:endParaRPr>
          </a:p>
        </p:txBody>
      </p:sp>
      <p:sp>
        <p:nvSpPr>
          <p:cNvPr id="11" name="Text 9"/>
          <p:cNvSpPr/>
          <p:nvPr/>
        </p:nvSpPr>
        <p:spPr>
          <a:xfrm>
            <a:off x="3673475" y="1984871"/>
            <a:ext cx="22205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33"/>
                </a:solidFill>
                <a:latin typeface="Arial" pitchFamily="34" charset="0"/>
                <a:ea typeface="Arial" pitchFamily="34" charset="-122"/>
                <a:cs typeface="Arial" pitchFamily="34" charset="-120"/>
              </a:rPr>
              <a:t>Compare</a:t>
            </a:r>
            <a:endParaRPr lang="en-US" sz="1800" dirty="0">
              <a:latin typeface="Arial"/>
            </a:endParaRPr>
          </a:p>
        </p:txBody>
      </p:sp>
      <p:sp>
        <p:nvSpPr>
          <p:cNvPr id="12" name="Text 10"/>
          <p:cNvSpPr/>
          <p:nvPr/>
        </p:nvSpPr>
        <p:spPr>
          <a:xfrm>
            <a:off x="3673475" y="2335312"/>
            <a:ext cx="222050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Joins the source and target tables on their primary keys (PKs) and compares every record.</a:t>
            </a:r>
            <a:endParaRPr lang="en-US" sz="1200" dirty="0">
              <a:latin typeface="Arial"/>
            </a:endParaRPr>
          </a:p>
        </p:txBody>
      </p:sp>
      <p:sp>
        <p:nvSpPr>
          <p:cNvPr id="13" name="Text 11"/>
          <p:cNvSpPr/>
          <p:nvPr/>
        </p:nvSpPr>
        <p:spPr>
          <a:xfrm>
            <a:off x="3673475" y="3770213"/>
            <a:ext cx="22205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FB0"/>
                </a:solidFill>
                <a:latin typeface="Arial" pitchFamily="49" charset="0"/>
                <a:ea typeface="Arial" pitchFamily="49" charset="-122"/>
                <a:cs typeface="Arial" pitchFamily="49" charset="-120"/>
              </a:rPr>
              <a:t>matched · mismatched · added · removed</a:t>
            </a:r>
            <a:endParaRPr lang="en-US" sz="1200" dirty="0">
              <a:latin typeface="Arial"/>
            </a:endParaRPr>
          </a:p>
        </p:txBody>
      </p:sp>
      <p:sp>
        <p:nvSpPr>
          <p:cNvPr id="14" name="Shape 12"/>
          <p:cNvSpPr/>
          <p:nvPr/>
        </p:nvSpPr>
        <p:spPr>
          <a:xfrm>
            <a:off x="6169025" y="1514376"/>
            <a:ext cx="2517775" cy="2863453"/>
          </a:xfrm>
          <a:prstGeom prst="roundRect">
            <a:avLst>
              <a:gd name="adj" fmla="val 3909"/>
            </a:avLst>
          </a:prstGeom>
          <a:solidFill>
            <a:srgbClr val="FFFDF8"/>
          </a:solidFill>
          <a:ln w="6350">
            <a:solidFill>
              <a:srgbClr val="DDD8CC"/>
            </a:solidFill>
            <a:prstDash val="solid"/>
          </a:ln>
        </p:spPr>
      </p:sp>
      <p:sp>
        <p:nvSpPr>
          <p:cNvPr id="15" name="Text 13"/>
          <p:cNvSpPr/>
          <p:nvPr/>
        </p:nvSpPr>
        <p:spPr>
          <a:xfrm>
            <a:off x="6350000" y="1695351"/>
            <a:ext cx="222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716"/>
                </a:solidFill>
                <a:latin typeface="Arial" pitchFamily="34" charset="0"/>
                <a:ea typeface="Arial" pitchFamily="34" charset="-122"/>
                <a:cs typeface="Arial" pitchFamily="34" charset="-120"/>
              </a:rPr>
              <a:t>STEP 3</a:t>
            </a:r>
            <a:endParaRPr lang="en-US" sz="1200" dirty="0">
              <a:latin typeface="Arial"/>
            </a:endParaRPr>
          </a:p>
        </p:txBody>
      </p:sp>
      <p:sp>
        <p:nvSpPr>
          <p:cNvPr id="16" name="Text 14"/>
          <p:cNvSpPr/>
          <p:nvPr/>
        </p:nvSpPr>
        <p:spPr>
          <a:xfrm>
            <a:off x="6350000" y="1984871"/>
            <a:ext cx="22205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33"/>
                </a:solidFill>
                <a:latin typeface="Arial" pitchFamily="34" charset="0"/>
                <a:ea typeface="Arial" pitchFamily="34" charset="-122"/>
                <a:cs typeface="Arial" pitchFamily="34" charset="-120"/>
              </a:rPr>
              <a:t>Save</a:t>
            </a:r>
            <a:endParaRPr lang="en-US" sz="1800" dirty="0">
              <a:latin typeface="Arial"/>
            </a:endParaRPr>
          </a:p>
        </p:txBody>
      </p:sp>
      <p:sp>
        <p:nvSpPr>
          <p:cNvPr id="17" name="Text 15"/>
          <p:cNvSpPr/>
          <p:nvPr/>
        </p:nvSpPr>
        <p:spPr>
          <a:xfrm>
            <a:off x="6350000" y="2335312"/>
            <a:ext cx="22205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Rows that don't match are saved, grouped by which columns differ.</a:t>
            </a:r>
            <a:endParaRPr lang="en-US" sz="1200" dirty="0">
              <a:latin typeface="Arial"/>
            </a:endParaRPr>
          </a:p>
        </p:txBody>
      </p:sp>
      <p:sp>
        <p:nvSpPr>
          <p:cNvPr id="18" name="Text 16"/>
          <p:cNvSpPr/>
          <p:nvPr/>
        </p:nvSpPr>
        <p:spPr>
          <a:xfrm>
            <a:off x="6350000" y="3770213"/>
            <a:ext cx="22205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FB0"/>
                </a:solidFill>
                <a:latin typeface="Arial" pitchFamily="49" charset="0"/>
                <a:ea typeface="Arial" pitchFamily="49" charset="-122"/>
                <a:cs typeface="Arial" pitchFamily="49" charset="-120"/>
              </a:rPr>
              <a:t>mismatched rows per table</a:t>
            </a:r>
            <a:endParaRPr lang="en-US" sz="1200" dirty="0">
              <a:latin typeface="Arial"/>
            </a:endParaRPr>
          </a:p>
        </p:txBody>
      </p:sp>
      <p:sp>
        <p:nvSpPr>
          <p:cNvPr id="19" name="Shape 17"/>
          <p:cNvSpPr/>
          <p:nvPr/>
        </p:nvSpPr>
        <p:spPr>
          <a:xfrm>
            <a:off x="8848725" y="1517551"/>
            <a:ext cx="2524125" cy="2857103"/>
          </a:xfrm>
          <a:prstGeom prst="roundRect">
            <a:avLst>
              <a:gd name="adj" fmla="val 3774"/>
            </a:avLst>
          </a:prstGeom>
          <a:solidFill>
            <a:srgbClr val="FBEEE6"/>
          </a:solidFill>
          <a:ln w="12700">
            <a:solidFill>
              <a:srgbClr val="B04716"/>
            </a:solidFill>
            <a:prstDash val="solid"/>
          </a:ln>
        </p:spPr>
      </p:sp>
      <p:sp>
        <p:nvSpPr>
          <p:cNvPr id="20" name="Text 18"/>
          <p:cNvSpPr/>
          <p:nvPr/>
        </p:nvSpPr>
        <p:spPr>
          <a:xfrm>
            <a:off x="9032875" y="1701701"/>
            <a:ext cx="222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716"/>
                </a:solidFill>
                <a:latin typeface="Arial" pitchFamily="34" charset="0"/>
                <a:ea typeface="Arial" pitchFamily="34" charset="-122"/>
                <a:cs typeface="Arial" pitchFamily="34" charset="-120"/>
              </a:rPr>
              <a:t>STEP 4 · MANUAL</a:t>
            </a:r>
            <a:endParaRPr lang="en-US" sz="1200" dirty="0">
              <a:latin typeface="Arial"/>
            </a:endParaRPr>
          </a:p>
        </p:txBody>
      </p:sp>
      <p:sp>
        <p:nvSpPr>
          <p:cNvPr id="21" name="Text 19"/>
          <p:cNvSpPr/>
          <p:nvPr/>
        </p:nvSpPr>
        <p:spPr>
          <a:xfrm>
            <a:off x="9032875" y="1991221"/>
            <a:ext cx="22205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33"/>
                </a:solidFill>
                <a:latin typeface="Arial" pitchFamily="34" charset="0"/>
                <a:ea typeface="Arial" pitchFamily="34" charset="-122"/>
                <a:cs typeface="Arial" pitchFamily="34" charset="-120"/>
              </a:rPr>
              <a:t>Investigate</a:t>
            </a:r>
            <a:endParaRPr lang="en-US" sz="1800" dirty="0">
              <a:latin typeface="Arial"/>
            </a:endParaRPr>
          </a:p>
        </p:txBody>
      </p:sp>
      <p:sp>
        <p:nvSpPr>
          <p:cNvPr id="22" name="Text 20"/>
          <p:cNvSpPr/>
          <p:nvPr/>
        </p:nvSpPr>
        <p:spPr>
          <a:xfrm>
            <a:off x="9032875" y="2341662"/>
            <a:ext cx="222050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Developers go through the mismatches record by record and table by table to see what changed and whether it matters.</a:t>
            </a:r>
            <a:endParaRPr lang="en-US" sz="1200" dirty="0">
              <a:latin typeface="Arial"/>
            </a:endParaRPr>
          </a:p>
        </p:txBody>
      </p:sp>
      <p:sp>
        <p:nvSpPr>
          <p:cNvPr id="23" name="Text 21"/>
          <p:cNvSpPr/>
          <p:nvPr/>
        </p:nvSpPr>
        <p:spPr>
          <a:xfrm>
            <a:off x="9032875" y="3560663"/>
            <a:ext cx="2155825" cy="629841"/>
          </a:xfrm>
          <a:prstGeom prst="roundRect">
            <a:avLst>
              <a:gd name="adj" fmla="val 12098"/>
            </a:avLst>
          </a:prstGeom>
          <a:solidFill>
            <a:srgbClr val="B04716"/>
          </a:solidFill>
          <a:ln/>
        </p:spPr>
        <p:txBody>
          <a:bodyPr wrap="square" lIns="79282" tIns="79282" rIns="20703" bIns="53882" rtlCol="0" anchor="t">
            <a:normAutofit fontScale="77500" lnSpcReduction="20000"/>
          </a:bodyPr>
          <a:lstStyle/>
          <a:p>
            <a:pPr marL="0" indent="0" algn="l">
              <a:lnSpc>
                <a:spcPts val="1680"/>
              </a:lnSpc>
              <a:buNone/>
            </a:pPr>
            <a:r>
              <a:rPr lang="en-US" sz="1200" b="1" dirty="0">
                <a:solidFill>
                  <a:srgbClr val="FFFDF8"/>
                </a:solidFill>
                <a:latin typeface="Arial" pitchFamily="34" charset="0"/>
                <a:ea typeface="Arial" pitchFamily="34" charset="-122"/>
                <a:cs typeface="Arial" pitchFamily="34" charset="-120"/>
              </a:rPr>
              <a:t>The analyser steps in and classifies, prioritises and groups findings</a:t>
            </a:r>
            <a:endParaRPr lang="en-US" sz="1200" dirty="0">
              <a:latin typeface="Arial"/>
            </a:endParaRPr>
          </a:p>
        </p:txBody>
      </p:sp>
      <p:sp>
        <p:nvSpPr>
          <p:cNvPr id="24" name="Text 22"/>
          <p:cNvSpPr/>
          <p:nvPr/>
        </p:nvSpPr>
        <p:spPr>
          <a:xfrm>
            <a:off x="812800" y="458420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Arial" pitchFamily="34" charset="0"/>
                <a:ea typeface="Arial" pitchFamily="34" charset="-122"/>
                <a:cs typeface="Arial" pitchFamily="34" charset="-120"/>
              </a:rPr>
              <a:t>WHAT THE ANALYSER ADDS</a:t>
            </a:r>
            <a:endParaRPr lang="en-US" sz="1200" dirty="0">
              <a:latin typeface="Arial"/>
            </a:endParaRPr>
          </a:p>
        </p:txBody>
      </p:sp>
      <p:sp>
        <p:nvSpPr>
          <p:cNvPr id="25" name="Shape 23"/>
          <p:cNvSpPr/>
          <p:nvPr/>
        </p:nvSpPr>
        <p:spPr>
          <a:xfrm>
            <a:off x="815975" y="4902299"/>
            <a:ext cx="3414117" cy="722511"/>
          </a:xfrm>
          <a:prstGeom prst="roundRect">
            <a:avLst>
              <a:gd name="adj" fmla="val 13623"/>
            </a:avLst>
          </a:prstGeom>
          <a:solidFill>
            <a:srgbClr val="EAF3FB"/>
          </a:solidFill>
          <a:ln w="19050">
            <a:solidFill>
              <a:srgbClr val="3A7696"/>
            </a:solidFill>
            <a:prstDash val="solid"/>
          </a:ln>
        </p:spPr>
      </p:sp>
      <p:pic>
        <p:nvPicPr>
          <p:cNvPr id="26" name="Image 0" descr="Check"/>
          <p:cNvPicPr>
            <a:picLocks noChangeAspect="1"/>
          </p:cNvPicPr>
          <p:nvPr/>
        </p:nvPicPr>
        <p:blipFill>
          <a:blip r:embed="rId3"/>
          <a:srcRect/>
          <a:stretch/>
        </p:blipFill>
        <p:spPr>
          <a:xfrm>
            <a:off x="996950" y="5136555"/>
            <a:ext cx="254000" cy="254000"/>
          </a:xfrm>
          <a:prstGeom prst="rect">
            <a:avLst/>
          </a:prstGeom>
        </p:spPr>
      </p:pic>
      <p:sp>
        <p:nvSpPr>
          <p:cNvPr id="27" name="Text 24"/>
          <p:cNvSpPr/>
          <p:nvPr/>
        </p:nvSpPr>
        <p:spPr>
          <a:xfrm>
            <a:off x="1352550" y="5147965"/>
            <a:ext cx="2689503"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74A6E"/>
                </a:solidFill>
                <a:latin typeface="Arial" pitchFamily="34" charset="0"/>
                <a:ea typeface="Arial" pitchFamily="34" charset="-122"/>
                <a:cs typeface="Arial" pitchFamily="34" charset="-120"/>
              </a:rPr>
              <a:t>Handles millions of records</a:t>
            </a:r>
            <a:endParaRPr lang="en-US" sz="1400" dirty="0">
              <a:latin typeface="Arial"/>
            </a:endParaRPr>
          </a:p>
        </p:txBody>
      </p:sp>
      <p:sp>
        <p:nvSpPr>
          <p:cNvPr id="28" name="Shape 25"/>
          <p:cNvSpPr/>
          <p:nvPr/>
        </p:nvSpPr>
        <p:spPr>
          <a:xfrm>
            <a:off x="4388842" y="4902299"/>
            <a:ext cx="3414216" cy="722511"/>
          </a:xfrm>
          <a:prstGeom prst="roundRect">
            <a:avLst>
              <a:gd name="adj" fmla="val 13623"/>
            </a:avLst>
          </a:prstGeom>
          <a:solidFill>
            <a:srgbClr val="EAF3FB"/>
          </a:solidFill>
          <a:ln w="19050">
            <a:solidFill>
              <a:srgbClr val="3A7696"/>
            </a:solidFill>
            <a:prstDash val="solid"/>
          </a:ln>
        </p:spPr>
      </p:sp>
      <p:pic>
        <p:nvPicPr>
          <p:cNvPr id="29" name="Image 1" descr="Check"/>
          <p:cNvPicPr>
            <a:picLocks noChangeAspect="1"/>
          </p:cNvPicPr>
          <p:nvPr/>
        </p:nvPicPr>
        <p:blipFill>
          <a:blip r:embed="rId3"/>
          <a:srcRect/>
          <a:stretch/>
        </p:blipFill>
        <p:spPr>
          <a:xfrm>
            <a:off x="4569817" y="5136555"/>
            <a:ext cx="254000" cy="254000"/>
          </a:xfrm>
          <a:prstGeom prst="rect">
            <a:avLst/>
          </a:prstGeom>
        </p:spPr>
      </p:pic>
      <p:sp>
        <p:nvSpPr>
          <p:cNvPr id="30" name="Text 26"/>
          <p:cNvSpPr/>
          <p:nvPr/>
        </p:nvSpPr>
        <p:spPr>
          <a:xfrm>
            <a:off x="4925417" y="5147965"/>
            <a:ext cx="2874466"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74A6E"/>
                </a:solidFill>
                <a:latin typeface="Arial" pitchFamily="34" charset="0"/>
                <a:ea typeface="Arial" pitchFamily="34" charset="-122"/>
                <a:cs typeface="Arial" pitchFamily="34" charset="-120"/>
              </a:rPr>
              <a:t>Prioritises important differences</a:t>
            </a:r>
            <a:endParaRPr lang="en-US" sz="1400" dirty="0">
              <a:latin typeface="Arial"/>
            </a:endParaRPr>
          </a:p>
        </p:txBody>
      </p:sp>
      <p:sp>
        <p:nvSpPr>
          <p:cNvPr id="31" name="Shape 27"/>
          <p:cNvSpPr/>
          <p:nvPr/>
        </p:nvSpPr>
        <p:spPr>
          <a:xfrm>
            <a:off x="7961809" y="4902299"/>
            <a:ext cx="3414216" cy="722511"/>
          </a:xfrm>
          <a:prstGeom prst="roundRect">
            <a:avLst>
              <a:gd name="adj" fmla="val 13623"/>
            </a:avLst>
          </a:prstGeom>
          <a:solidFill>
            <a:srgbClr val="EAF3FB"/>
          </a:solidFill>
          <a:ln w="19050">
            <a:solidFill>
              <a:srgbClr val="3A7696"/>
            </a:solidFill>
            <a:prstDash val="solid"/>
          </a:ln>
        </p:spPr>
      </p:sp>
      <p:pic>
        <p:nvPicPr>
          <p:cNvPr id="32" name="Image 2" descr="Check"/>
          <p:cNvPicPr>
            <a:picLocks noChangeAspect="1"/>
          </p:cNvPicPr>
          <p:nvPr/>
        </p:nvPicPr>
        <p:blipFill>
          <a:blip r:embed="rId4"/>
          <a:srcRect l="-391" r="-391"/>
          <a:stretch/>
        </p:blipFill>
        <p:spPr>
          <a:xfrm>
            <a:off x="8142784" y="5136555"/>
            <a:ext cx="230386" cy="254000"/>
          </a:xfrm>
          <a:prstGeom prst="rect">
            <a:avLst/>
          </a:prstGeom>
        </p:spPr>
      </p:pic>
      <p:sp>
        <p:nvSpPr>
          <p:cNvPr id="33" name="Text 28"/>
          <p:cNvSpPr/>
          <p:nvPr/>
        </p:nvSpPr>
        <p:spPr>
          <a:xfrm>
            <a:off x="8474770" y="5032474"/>
            <a:ext cx="2801889" cy="487561"/>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74A6E"/>
                </a:solidFill>
                <a:latin typeface="Arial" pitchFamily="34" charset="0"/>
                <a:ea typeface="Arial" pitchFamily="34" charset="-122"/>
                <a:cs typeface="Arial" pitchFamily="34" charset="-120"/>
              </a:rPr>
              <a:t>Groups the same issue across tables</a:t>
            </a:r>
            <a:endParaRPr lang="en-US" sz="1400" dirty="0">
              <a:latin typeface="Arial"/>
            </a:endParaRPr>
          </a:p>
        </p:txBody>
      </p:sp>
      <p:sp>
        <p:nvSpPr>
          <p:cNvPr id="34" name="Text 2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Arial" pitchFamily="34" charset="0"/>
                <a:ea typeface="Arial" pitchFamily="34" charset="-122"/>
                <a:cs typeface="Arial" pitchFamily="34" charset="-120"/>
              </a:rPr>
              <a:t>Agentic Recon Analyser · 2 / 9</a:t>
            </a:r>
            <a:endParaRPr lang="en-US" sz="1200"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716"/>
                </a:solidFill>
                <a:latin typeface="Arial" pitchFamily="34" charset="0"/>
                <a:ea typeface="Arial" pitchFamily="34" charset="-122"/>
                <a:cs typeface="Arial" pitchFamily="34" charset="-120"/>
              </a:rPr>
              <a:t>ARCHITECTURE</a:t>
            </a:r>
            <a:endParaRPr lang="en-US" sz="1200" dirty="0">
              <a:latin typeface="Arial"/>
            </a:endParaRPr>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033"/>
                </a:solidFill>
                <a:latin typeface="Arial" pitchFamily="18" charset="0"/>
                <a:ea typeface="Arial" pitchFamily="18" charset="-122"/>
                <a:cs typeface="Arial" pitchFamily="18" charset="-120"/>
              </a:rPr>
              <a:t>Agentic Recon Analyser</a:t>
            </a:r>
            <a:endParaRPr lang="en-US" sz="3200" dirty="0">
              <a:latin typeface="Arial"/>
            </a:endParaRPr>
          </a:p>
        </p:txBody>
      </p:sp>
      <p:sp>
        <p:nvSpPr>
          <p:cNvPr id="4" name="Shape 2"/>
          <p:cNvSpPr/>
          <p:nvPr/>
        </p:nvSpPr>
        <p:spPr>
          <a:xfrm>
            <a:off x="812800" y="2017911"/>
            <a:ext cx="5969000" cy="0"/>
          </a:xfrm>
          <a:prstGeom prst="line">
            <a:avLst/>
          </a:prstGeom>
          <a:noFill/>
          <a:ln w="12700">
            <a:solidFill>
              <a:srgbClr val="DDD8CC"/>
            </a:solidFill>
            <a:prstDash val="solid"/>
          </a:ln>
        </p:spPr>
      </p:sp>
      <p:sp>
        <p:nvSpPr>
          <p:cNvPr id="5" name="Text 3"/>
          <p:cNvSpPr/>
          <p:nvPr/>
        </p:nvSpPr>
        <p:spPr>
          <a:xfrm>
            <a:off x="812800" y="1798241"/>
            <a:ext cx="61480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Arial" pitchFamily="34" charset="0"/>
                <a:ea typeface="Arial" pitchFamily="34" charset="-122"/>
                <a:cs typeface="Arial" pitchFamily="34" charset="-120"/>
              </a:rPr>
              <a:t>EXISTING PIPELINE</a:t>
            </a:r>
            <a:endParaRPr lang="en-US" sz="1200" dirty="0">
              <a:latin typeface="Arial"/>
            </a:endParaRPr>
          </a:p>
        </p:txBody>
      </p:sp>
      <p:sp>
        <p:nvSpPr>
          <p:cNvPr id="6" name="Shape 4"/>
          <p:cNvSpPr/>
          <p:nvPr/>
        </p:nvSpPr>
        <p:spPr>
          <a:xfrm>
            <a:off x="7289800" y="2017911"/>
            <a:ext cx="4089400" cy="0"/>
          </a:xfrm>
          <a:prstGeom prst="line">
            <a:avLst/>
          </a:prstGeom>
          <a:noFill/>
          <a:ln w="12700">
            <a:solidFill>
              <a:srgbClr val="B04716"/>
            </a:solidFill>
            <a:prstDash val="solid"/>
          </a:ln>
        </p:spPr>
      </p:sp>
      <p:sp>
        <p:nvSpPr>
          <p:cNvPr id="7" name="Text 5"/>
          <p:cNvSpPr/>
          <p:nvPr/>
        </p:nvSpPr>
        <p:spPr>
          <a:xfrm>
            <a:off x="7289800" y="1798241"/>
            <a:ext cx="421208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716"/>
                </a:solidFill>
                <a:latin typeface="Arial" pitchFamily="34" charset="0"/>
                <a:ea typeface="Arial" pitchFamily="34" charset="-122"/>
                <a:cs typeface="Arial" pitchFamily="34" charset="-120"/>
              </a:rPr>
              <a:t>NEW · AGENTIC RECON ANALYSER</a:t>
            </a:r>
            <a:endParaRPr lang="en-US" sz="1200" dirty="0">
              <a:latin typeface="Arial"/>
            </a:endParaRPr>
          </a:p>
        </p:txBody>
      </p:sp>
      <p:sp>
        <p:nvSpPr>
          <p:cNvPr id="8" name="Text 6"/>
          <p:cNvSpPr/>
          <p:nvPr/>
        </p:nvSpPr>
        <p:spPr>
          <a:xfrm>
            <a:off x="815975" y="2658666"/>
            <a:ext cx="1644650" cy="849511"/>
          </a:xfrm>
          <a:prstGeom prst="roundRect">
            <a:avLst>
              <a:gd name="adj" fmla="val 10091"/>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Source tables</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one side of the comparison</a:t>
            </a:r>
            <a:endParaRPr lang="en-US" sz="1200" dirty="0">
              <a:latin typeface="Arial"/>
            </a:endParaRPr>
          </a:p>
        </p:txBody>
      </p:sp>
      <p:sp>
        <p:nvSpPr>
          <p:cNvPr id="9" name="Text 7"/>
          <p:cNvSpPr/>
          <p:nvPr/>
        </p:nvSpPr>
        <p:spPr>
          <a:xfrm>
            <a:off x="815975" y="4246166"/>
            <a:ext cx="1644650" cy="849511"/>
          </a:xfrm>
          <a:prstGeom prst="roundRect">
            <a:avLst>
              <a:gd name="adj" fmla="val 10091"/>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Target tables</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the other side of the comparison</a:t>
            </a:r>
            <a:endParaRPr lang="en-US" sz="1200" dirty="0">
              <a:latin typeface="Arial"/>
            </a:endParaRPr>
          </a:p>
        </p:txBody>
      </p:sp>
      <p:sp>
        <p:nvSpPr>
          <p:cNvPr id="10" name="Text 8"/>
          <p:cNvSpPr/>
          <p:nvPr/>
        </p:nvSpPr>
        <p:spPr>
          <a:xfrm>
            <a:off x="2974975" y="3071416"/>
            <a:ext cx="1644650" cy="1702792"/>
          </a:xfrm>
          <a:prstGeom prst="roundRect">
            <a:avLst>
              <a:gd name="adj" fmla="val 5212"/>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Automated comparison</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Every record on both sides: matched, mismatched, added or removed</a:t>
            </a:r>
            <a:endParaRPr lang="en-US" sz="1200" dirty="0">
              <a:latin typeface="Arial"/>
            </a:endParaRPr>
          </a:p>
        </p:txBody>
      </p:sp>
      <p:sp>
        <p:nvSpPr>
          <p:cNvPr id="11" name="Text 9"/>
          <p:cNvSpPr/>
          <p:nvPr/>
        </p:nvSpPr>
        <p:spPr>
          <a:xfrm>
            <a:off x="5133975" y="3198416"/>
            <a:ext cx="1644650" cy="849511"/>
          </a:xfrm>
          <a:prstGeom prst="roundRect">
            <a:avLst>
              <a:gd name="adj" fmla="val 10091"/>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Mismatched rows</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Saved for each kind of difference</a:t>
            </a:r>
            <a:endParaRPr lang="en-US" sz="1200" dirty="0">
              <a:latin typeface="Arial"/>
            </a:endParaRPr>
          </a:p>
        </p:txBody>
      </p:sp>
      <p:sp>
        <p:nvSpPr>
          <p:cNvPr id="12" name="Text 10"/>
          <p:cNvSpPr/>
          <p:nvPr/>
        </p:nvSpPr>
        <p:spPr>
          <a:xfrm>
            <a:off x="7289800" y="2166541"/>
            <a:ext cx="4089400" cy="604441"/>
          </a:xfrm>
          <a:prstGeom prst="roundRect">
            <a:avLst>
              <a:gd name="adj" fmla="val 14708"/>
            </a:avLst>
          </a:prstGeom>
          <a:solidFill>
            <a:srgbClr val="B04716"/>
          </a:solidFill>
          <a:ln/>
        </p:spPr>
        <p:txBody>
          <a:bodyPr wrap="square" lIns="507362" tIns="62862" rIns="0" bIns="37462" rtlCol="0" anchor="t">
            <a:normAutofit/>
          </a:bodyPr>
          <a:lstStyle/>
          <a:p>
            <a:pPr marL="0" indent="0" algn="l">
              <a:lnSpc>
                <a:spcPts val="1680"/>
              </a:lnSpc>
              <a:buNone/>
            </a:pPr>
            <a:r>
              <a:rPr lang="en-US" sz="1200" b="1" dirty="0">
                <a:solidFill>
                  <a:srgbClr val="FFFDF8"/>
                </a:solidFill>
                <a:latin typeface="Arial" pitchFamily="34" charset="0"/>
                <a:ea typeface="Arial" pitchFamily="34" charset="-122"/>
                <a:cs typeface="Arial" pitchFamily="34" charset="-120"/>
              </a:rPr>
              <a:t>AI agent</a:t>
            </a:r>
            <a:r>
              <a:rPr lang="en-US" sz="1200" dirty="0">
                <a:solidFill>
                  <a:srgbClr val="FFFDF8"/>
                </a:solidFill>
                <a:latin typeface="Arial" pitchFamily="34" charset="0"/>
                <a:ea typeface="Arial" pitchFamily="34" charset="-122"/>
                <a:cs typeface="Arial" pitchFamily="34" charset="-120"/>
              </a:rPr>
              <a:t> runs the analyser, reads the results and reports what needs attention</a:t>
            </a:r>
            <a:endParaRPr lang="en-US" sz="1200" dirty="0">
              <a:latin typeface="Arial"/>
            </a:endParaRPr>
          </a:p>
        </p:txBody>
      </p:sp>
      <p:pic>
        <p:nvPicPr>
          <p:cNvPr id="13" name="Image 0" descr="Lightning"/>
          <p:cNvPicPr>
            <a:picLocks noChangeAspect="1"/>
          </p:cNvPicPr>
          <p:nvPr/>
        </p:nvPicPr>
        <p:blipFill>
          <a:blip r:embed="rId3"/>
          <a:srcRect/>
          <a:stretch/>
        </p:blipFill>
        <p:spPr>
          <a:xfrm>
            <a:off x="7416800" y="2318941"/>
            <a:ext cx="304800" cy="304800"/>
          </a:xfrm>
          <a:prstGeom prst="rect">
            <a:avLst/>
          </a:prstGeom>
        </p:spPr>
      </p:pic>
      <p:sp>
        <p:nvSpPr>
          <p:cNvPr id="14" name="Shape 11"/>
          <p:cNvSpPr/>
          <p:nvPr/>
        </p:nvSpPr>
        <p:spPr>
          <a:xfrm>
            <a:off x="7289800" y="2979341"/>
            <a:ext cx="2286000" cy="2755900"/>
          </a:xfrm>
          <a:prstGeom prst="roundRect">
            <a:avLst>
              <a:gd name="adj" fmla="val 5000"/>
            </a:avLst>
          </a:prstGeom>
          <a:solidFill>
            <a:srgbClr val="152033"/>
          </a:solidFill>
          <a:ln/>
        </p:spPr>
      </p:sp>
      <p:sp>
        <p:nvSpPr>
          <p:cNvPr id="15" name="Text 12"/>
          <p:cNvSpPr/>
          <p:nvPr/>
        </p:nvSpPr>
        <p:spPr>
          <a:xfrm>
            <a:off x="7442200" y="3068241"/>
            <a:ext cx="2040636"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6F4EF"/>
                </a:solidFill>
                <a:latin typeface="Arial" pitchFamily="34" charset="0"/>
                <a:ea typeface="Arial" pitchFamily="34" charset="-122"/>
                <a:cs typeface="Arial" pitchFamily="34" charset="-120"/>
              </a:rPr>
              <a:t>Rule-based checks</a:t>
            </a:r>
            <a:endParaRPr lang="en-US" sz="1400" dirty="0">
              <a:latin typeface="Arial"/>
            </a:endParaRPr>
          </a:p>
        </p:txBody>
      </p:sp>
      <p:sp>
        <p:nvSpPr>
          <p:cNvPr id="16" name="Text 13"/>
          <p:cNvSpPr/>
          <p:nvPr/>
        </p:nvSpPr>
        <p:spPr>
          <a:xfrm>
            <a:off x="7445375" y="3528616"/>
            <a:ext cx="1974850" cy="499070"/>
          </a:xfrm>
          <a:prstGeom prst="roundRect">
            <a:avLst>
              <a:gd name="adj" fmla="val 14632"/>
            </a:avLst>
          </a:prstGeom>
          <a:solidFill>
            <a:srgbClr val="1B2840"/>
          </a:solidFill>
          <a:ln w="6350">
            <a:solidFill>
              <a:srgbClr val="33415C"/>
            </a:solidFill>
            <a:prstDash val="solid"/>
          </a:ln>
        </p:spPr>
        <p:txBody>
          <a:bodyPr wrap="square" lIns="96087" tIns="121487" rIns="43890" bIns="96087" rtlCol="0" anchor="t">
            <a:normAutofit/>
          </a:bodyPr>
          <a:lstStyle/>
          <a:p>
            <a:pPr marL="0" indent="0" algn="l">
              <a:lnSpc>
                <a:spcPts val="1680"/>
              </a:lnSpc>
              <a:buNone/>
            </a:pPr>
            <a:r>
              <a:rPr lang="en-US" sz="1200" b="1" dirty="0">
                <a:solidFill>
                  <a:srgbClr val="F08A55"/>
                </a:solidFill>
                <a:latin typeface="Arial" pitchFamily="34" charset="0"/>
                <a:ea typeface="Arial" pitchFamily="34" charset="-122"/>
                <a:cs typeface="Arial" pitchFamily="34" charset="-120"/>
              </a:rPr>
              <a:t>1 · Classify</a:t>
            </a:r>
            <a:endParaRPr lang="en-US" sz="1200" dirty="0">
              <a:latin typeface="Arial"/>
            </a:endParaRPr>
          </a:p>
        </p:txBody>
      </p:sp>
      <p:sp>
        <p:nvSpPr>
          <p:cNvPr id="17" name="Text 14"/>
          <p:cNvSpPr/>
          <p:nvPr/>
        </p:nvSpPr>
        <p:spPr>
          <a:xfrm>
            <a:off x="7445375" y="4265216"/>
            <a:ext cx="1974850" cy="499070"/>
          </a:xfrm>
          <a:prstGeom prst="roundRect">
            <a:avLst>
              <a:gd name="adj" fmla="val 14632"/>
            </a:avLst>
          </a:prstGeom>
          <a:solidFill>
            <a:srgbClr val="1B2840"/>
          </a:solidFill>
          <a:ln w="6350">
            <a:solidFill>
              <a:srgbClr val="33415C"/>
            </a:solidFill>
            <a:prstDash val="solid"/>
          </a:ln>
        </p:spPr>
        <p:txBody>
          <a:bodyPr wrap="square" lIns="96087" tIns="121487" rIns="43890" bIns="96087" rtlCol="0" anchor="t">
            <a:normAutofit/>
          </a:bodyPr>
          <a:lstStyle/>
          <a:p>
            <a:pPr marL="0" indent="0" algn="l">
              <a:lnSpc>
                <a:spcPts val="1680"/>
              </a:lnSpc>
              <a:buNone/>
            </a:pPr>
            <a:r>
              <a:rPr lang="en-US" sz="1200" b="1" dirty="0">
                <a:solidFill>
                  <a:srgbClr val="F08A55"/>
                </a:solidFill>
                <a:latin typeface="Arial" pitchFamily="34" charset="0"/>
                <a:ea typeface="Arial" pitchFamily="34" charset="-122"/>
                <a:cs typeface="Arial" pitchFamily="34" charset="-120"/>
              </a:rPr>
              <a:t>2 · Rank by risk</a:t>
            </a:r>
            <a:endParaRPr lang="en-US" sz="1200" dirty="0">
              <a:latin typeface="Arial"/>
            </a:endParaRPr>
          </a:p>
        </p:txBody>
      </p:sp>
      <p:sp>
        <p:nvSpPr>
          <p:cNvPr id="18" name="Text 15"/>
          <p:cNvSpPr/>
          <p:nvPr/>
        </p:nvSpPr>
        <p:spPr>
          <a:xfrm>
            <a:off x="7445375" y="5001816"/>
            <a:ext cx="1974850" cy="499070"/>
          </a:xfrm>
          <a:prstGeom prst="roundRect">
            <a:avLst>
              <a:gd name="adj" fmla="val 14632"/>
            </a:avLst>
          </a:prstGeom>
          <a:solidFill>
            <a:srgbClr val="1B2840"/>
          </a:solidFill>
          <a:ln w="6350">
            <a:solidFill>
              <a:srgbClr val="33415C"/>
            </a:solidFill>
            <a:prstDash val="solid"/>
          </a:ln>
        </p:spPr>
        <p:txBody>
          <a:bodyPr wrap="square" lIns="96087" tIns="121487" rIns="43890" bIns="96087" rtlCol="0" anchor="t">
            <a:normAutofit/>
          </a:bodyPr>
          <a:lstStyle/>
          <a:p>
            <a:pPr marL="0" indent="0" algn="l">
              <a:lnSpc>
                <a:spcPts val="1680"/>
              </a:lnSpc>
              <a:buNone/>
            </a:pPr>
            <a:r>
              <a:rPr lang="en-US" sz="1200" b="1" dirty="0">
                <a:solidFill>
                  <a:srgbClr val="F08A55"/>
                </a:solidFill>
                <a:latin typeface="Arial" pitchFamily="34" charset="0"/>
                <a:ea typeface="Arial" pitchFamily="34" charset="-122"/>
                <a:cs typeface="Arial" pitchFamily="34" charset="-120"/>
              </a:rPr>
              <a:t>3 · Group by issue</a:t>
            </a:r>
            <a:endParaRPr lang="en-US" sz="1200" dirty="0">
              <a:latin typeface="Arial"/>
            </a:endParaRPr>
          </a:p>
        </p:txBody>
      </p:sp>
      <p:sp>
        <p:nvSpPr>
          <p:cNvPr id="19" name="Text 16"/>
          <p:cNvSpPr/>
          <p:nvPr/>
        </p:nvSpPr>
        <p:spPr>
          <a:xfrm>
            <a:off x="9988550" y="3061891"/>
            <a:ext cx="1384300" cy="855861"/>
          </a:xfrm>
          <a:prstGeom prst="roundRect">
            <a:avLst>
              <a:gd name="adj" fmla="val 9645"/>
            </a:avLst>
          </a:prstGeom>
          <a:solidFill>
            <a:srgbClr val="FBEEE6"/>
          </a:solidFill>
          <a:ln w="12700">
            <a:solidFill>
              <a:srgbClr val="B04716"/>
            </a:solidFill>
            <a:prstDash val="solid"/>
          </a:ln>
        </p:spPr>
        <p:txBody>
          <a:bodyPr wrap="square" lIns="109172" tIns="83772" rIns="58372" bIns="58372"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Report</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Gives HTML and Excel output</a:t>
            </a:r>
            <a:endParaRPr lang="en-US" sz="1200" dirty="0">
              <a:latin typeface="Arial"/>
            </a:endParaRPr>
          </a:p>
        </p:txBody>
      </p:sp>
      <p:pic>
        <p:nvPicPr>
          <p:cNvPr id="20" name="Image 1" descr="connector"/>
          <p:cNvPicPr>
            <a:picLocks noChangeAspect="1"/>
          </p:cNvPicPr>
          <p:nvPr/>
        </p:nvPicPr>
        <p:blipFill>
          <a:blip r:embed="rId4"/>
          <a:srcRect/>
          <a:stretch/>
        </p:blipFill>
        <p:spPr>
          <a:xfrm>
            <a:off x="2413000" y="3049191"/>
            <a:ext cx="355600" cy="1689100"/>
          </a:xfrm>
          <a:prstGeom prst="rect">
            <a:avLst/>
          </a:prstGeom>
        </p:spPr>
      </p:pic>
      <p:pic>
        <p:nvPicPr>
          <p:cNvPr id="21" name="Image 2" descr="connector"/>
          <p:cNvPicPr>
            <a:picLocks noChangeAspect="1"/>
          </p:cNvPicPr>
          <p:nvPr/>
        </p:nvPicPr>
        <p:blipFill>
          <a:blip r:embed="rId5"/>
          <a:srcRect/>
          <a:stretch/>
        </p:blipFill>
        <p:spPr>
          <a:xfrm>
            <a:off x="2413000" y="4636691"/>
            <a:ext cx="355600" cy="101600"/>
          </a:xfrm>
          <a:prstGeom prst="rect">
            <a:avLst/>
          </a:prstGeom>
        </p:spPr>
      </p:pic>
      <p:pic>
        <p:nvPicPr>
          <p:cNvPr id="22" name="Image 3" descr="connector"/>
          <p:cNvPicPr>
            <a:picLocks noChangeAspect="1"/>
          </p:cNvPicPr>
          <p:nvPr/>
        </p:nvPicPr>
        <p:blipFill>
          <a:blip r:embed="rId6"/>
          <a:srcRect/>
          <a:stretch/>
        </p:blipFill>
        <p:spPr>
          <a:xfrm>
            <a:off x="2667000" y="3842941"/>
            <a:ext cx="355600" cy="101600"/>
          </a:xfrm>
          <a:prstGeom prst="rect">
            <a:avLst/>
          </a:prstGeom>
        </p:spPr>
      </p:pic>
      <p:pic>
        <p:nvPicPr>
          <p:cNvPr id="23" name="Image 4" descr="connector"/>
          <p:cNvPicPr>
            <a:picLocks noChangeAspect="1"/>
          </p:cNvPicPr>
          <p:nvPr/>
        </p:nvPicPr>
        <p:blipFill>
          <a:blip r:embed="rId7"/>
          <a:srcRect/>
          <a:stretch/>
        </p:blipFill>
        <p:spPr>
          <a:xfrm>
            <a:off x="4572000" y="3842941"/>
            <a:ext cx="609600" cy="101600"/>
          </a:xfrm>
          <a:prstGeom prst="rect">
            <a:avLst/>
          </a:prstGeom>
        </p:spPr>
      </p:pic>
      <p:pic>
        <p:nvPicPr>
          <p:cNvPr id="24" name="Image 5" descr="connector"/>
          <p:cNvPicPr>
            <a:picLocks noChangeAspect="1"/>
          </p:cNvPicPr>
          <p:nvPr/>
        </p:nvPicPr>
        <p:blipFill>
          <a:blip r:embed="rId8"/>
          <a:srcRect/>
          <a:stretch/>
        </p:blipFill>
        <p:spPr>
          <a:xfrm>
            <a:off x="6731000" y="3842941"/>
            <a:ext cx="609600" cy="101600"/>
          </a:xfrm>
          <a:prstGeom prst="rect">
            <a:avLst/>
          </a:prstGeom>
        </p:spPr>
      </p:pic>
      <p:pic>
        <p:nvPicPr>
          <p:cNvPr id="25" name="Image 6" descr="connector"/>
          <p:cNvPicPr>
            <a:picLocks noChangeAspect="1"/>
          </p:cNvPicPr>
          <p:nvPr/>
        </p:nvPicPr>
        <p:blipFill>
          <a:blip r:embed="rId9"/>
          <a:srcRect/>
          <a:stretch/>
        </p:blipFill>
        <p:spPr>
          <a:xfrm>
            <a:off x="9525000" y="3639741"/>
            <a:ext cx="508000" cy="101600"/>
          </a:xfrm>
          <a:prstGeom prst="rect">
            <a:avLst/>
          </a:prstGeom>
        </p:spPr>
      </p:pic>
      <p:pic>
        <p:nvPicPr>
          <p:cNvPr id="26" name="Image 7" descr="connector"/>
          <p:cNvPicPr>
            <a:picLocks noChangeAspect="1"/>
          </p:cNvPicPr>
          <p:nvPr/>
        </p:nvPicPr>
        <p:blipFill>
          <a:blip r:embed="rId10"/>
          <a:srcRect/>
          <a:stretch/>
        </p:blipFill>
        <p:spPr>
          <a:xfrm>
            <a:off x="8382000" y="2725341"/>
            <a:ext cx="101600" cy="304800"/>
          </a:xfrm>
          <a:prstGeom prst="rect">
            <a:avLst/>
          </a:prstGeom>
        </p:spPr>
      </p:pic>
      <p:pic>
        <p:nvPicPr>
          <p:cNvPr id="27" name="Image 8" descr="connector"/>
          <p:cNvPicPr>
            <a:picLocks noChangeAspect="1"/>
          </p:cNvPicPr>
          <p:nvPr/>
        </p:nvPicPr>
        <p:blipFill>
          <a:blip r:embed="rId11"/>
          <a:srcRect/>
          <a:stretch/>
        </p:blipFill>
        <p:spPr>
          <a:xfrm>
            <a:off x="10629900" y="2725341"/>
            <a:ext cx="101600" cy="381000"/>
          </a:xfrm>
          <a:prstGeom prst="rect">
            <a:avLst/>
          </a:prstGeom>
        </p:spPr>
      </p:pic>
      <p:sp>
        <p:nvSpPr>
          <p:cNvPr id="28"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Arial" pitchFamily="34" charset="0"/>
                <a:ea typeface="Arial" pitchFamily="34" charset="-122"/>
                <a:cs typeface="Arial" pitchFamily="34" charset="-120"/>
              </a:rPr>
              <a:t>Agentic Recon Analyser · 4 / 9</a:t>
            </a:r>
            <a:endParaRPr lang="en-US" sz="1200"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716"/>
                </a:solidFill>
                <a:latin typeface="Arial" pitchFamily="34" charset="0"/>
                <a:ea typeface="Arial" pitchFamily="34" charset="-122"/>
                <a:cs typeface="Arial" pitchFamily="34" charset="-120"/>
              </a:rPr>
              <a:t>VALIDATION COVERAGE</a:t>
            </a:r>
            <a:endParaRPr lang="en-US" sz="1200" dirty="0">
              <a:latin typeface="Arial"/>
            </a:endParaRPr>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033"/>
                </a:solidFill>
                <a:latin typeface="Arial" pitchFamily="18" charset="0"/>
                <a:ea typeface="Arial" pitchFamily="18" charset="-122"/>
                <a:cs typeface="Arial" pitchFamily="18" charset="-120"/>
              </a:rPr>
              <a:t>What the </a:t>
            </a:r>
            <a:r>
              <a:rPr lang="en-US" sz="3200" b="1" i="0" dirty="0" err="1">
                <a:solidFill>
                  <a:srgbClr val="152033"/>
                </a:solidFill>
                <a:latin typeface="Arial" pitchFamily="18" charset="0"/>
                <a:ea typeface="Arial" pitchFamily="18" charset="-122"/>
                <a:cs typeface="Arial" pitchFamily="18" charset="-120"/>
              </a:rPr>
              <a:t>Analyser</a:t>
            </a:r>
            <a:r>
              <a:rPr lang="en-US" sz="3200" b="1" dirty="0">
                <a:latin typeface="Arial" pitchFamily="18" charset="0"/>
                <a:ea typeface="Arial" pitchFamily="18" charset="-122"/>
                <a:cs typeface="Arial" pitchFamily="18" charset="-120"/>
              </a:rPr>
              <a:t>C</a:t>
            </a:r>
            <a:r>
              <a:rPr lang="en-US" sz="3200" b="1" i="0" dirty="0">
                <a:solidFill>
                  <a:srgbClr val="152033"/>
                </a:solidFill>
                <a:latin typeface="Arial" pitchFamily="18" charset="0"/>
                <a:ea typeface="Arial" pitchFamily="18" charset="-122"/>
                <a:cs typeface="Arial" pitchFamily="18" charset="-120"/>
              </a:rPr>
              <a:t>hecks</a:t>
            </a:r>
            <a:endParaRPr lang="en-US" sz="3200" dirty="0">
              <a:latin typeface="Arial"/>
            </a:endParaRPr>
          </a:p>
        </p:txBody>
      </p:sp>
      <p:sp>
        <p:nvSpPr>
          <p:cNvPr id="28"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Arial" pitchFamily="34" charset="0"/>
                <a:ea typeface="Arial" pitchFamily="34" charset="-122"/>
                <a:cs typeface="Arial" pitchFamily="34" charset="-120"/>
              </a:rPr>
              <a:t>Agentic Recon Analyser · 4 / 9</a:t>
            </a:r>
            <a:endParaRPr lang="en-US" sz="1200" dirty="0">
              <a:latin typeface="Arial"/>
            </a:endParaRPr>
          </a:p>
        </p:txBody>
      </p:sp>
      <p:sp>
        <p:nvSpPr>
          <p:cNvPr id="29" name="Clickable test section 1" descr="Click to open the corresponding test case slide">
            <a:hlinkClick r:id="rId2" action="ppaction://hlinksldjump" tooltip="Open slide 4"/>
          </p:cNvPr>
          <p:cNvSpPr/>
          <p:nvPr/>
        </p:nvSpPr>
        <p:spPr>
          <a:xfrm>
            <a:off x="822960" y="2103120"/>
            <a:ext cx="5074920" cy="1234440"/>
          </a:xfrm>
          <a:prstGeom prst="roundRect">
            <a:avLst>
              <a:gd name="adj" fmla="val 10091"/>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Number &amp; boolean comparisons</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Formatting, precision, rounding and changed values</a:t>
            </a:r>
            <a:endParaRPr lang="en-US" sz="1200" dirty="0">
              <a:latin typeface="Arial"/>
            </a:endParaRPr>
          </a:p>
        </p:txBody>
      </p:sp>
      <p:sp>
        <p:nvSpPr>
          <p:cNvPr id="30" name="Clickable test section 2" descr="Click to open the corresponding test case slide">
            <a:hlinkClick r:id="rId3" action="ppaction://hlinksldjump" tooltip="Open slide 5"/>
          </p:cNvPr>
          <p:cNvSpPr/>
          <p:nvPr/>
        </p:nvSpPr>
        <p:spPr>
          <a:xfrm>
            <a:off x="6291072" y="2103120"/>
            <a:ext cx="5074920" cy="1234440"/>
          </a:xfrm>
          <a:prstGeom prst="roundRect">
            <a:avLst>
              <a:gd name="adj" fmla="val 10091"/>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Dates, nulls &amp; text</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Date formats, missing values, whitespace, punctuation and encoding</a:t>
            </a:r>
            <a:endParaRPr lang="en-US" sz="1200" dirty="0">
              <a:latin typeface="Arial"/>
            </a:endParaRPr>
          </a:p>
        </p:txBody>
      </p:sp>
      <p:sp>
        <p:nvSpPr>
          <p:cNvPr id="31" name="Clickable test section 3" descr="Click to open the corresponding test case slide">
            <a:hlinkClick r:id="rId4" action="ppaction://hlinksldjump" tooltip="Open slide 6"/>
          </p:cNvPr>
          <p:cNvSpPr/>
          <p:nvPr/>
        </p:nvSpPr>
        <p:spPr>
          <a:xfrm>
            <a:off x="822960" y="3858768"/>
            <a:ext cx="5074920" cy="1234440"/>
          </a:xfrm>
          <a:prstGeom prst="roundRect">
            <a:avLst>
              <a:gd name="adj" fmla="val 5212"/>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Traps that must stay visible</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Ambiguous dates and numbers, changed currencies and no-op rows</a:t>
            </a:r>
            <a:endParaRPr lang="en-US" sz="1200" dirty="0">
              <a:latin typeface="Arial"/>
            </a:endParaRPr>
          </a:p>
        </p:txBody>
      </p:sp>
      <p:sp>
        <p:nvSpPr>
          <p:cNvPr id="32" name="Clickable test section 4" descr="Click to open the corresponding test case slide">
            <a:hlinkClick r:id="rId5" action="ppaction://hlinksldjump" tooltip="Open slide 7"/>
          </p:cNvPr>
          <p:cNvSpPr/>
          <p:nvPr/>
        </p:nvSpPr>
        <p:spPr>
          <a:xfrm>
            <a:off x="6291072" y="3858768"/>
            <a:ext cx="5074920" cy="1234440"/>
          </a:xfrm>
          <a:prstGeom prst="roundRect">
            <a:avLst>
              <a:gd name="adj" fmla="val 10091"/>
            </a:avLst>
          </a:prstGeom>
          <a:solidFill>
            <a:srgbClr val="FFFDF8"/>
          </a:solidFill>
          <a:ln w="6350">
            <a:solidFill>
              <a:srgbClr val="DDD8CC"/>
            </a:solidFill>
            <a:prstDash val="solid"/>
          </a:ln>
        </p:spPr>
        <p:txBody>
          <a:bodyPr wrap="square" lIns="105067" tIns="79667" rIns="54267" bIns="54267" rtlCol="0" anchor="t">
            <a:normAutofit/>
          </a:bodyPr>
          <a:lstStyle/>
          <a:p>
            <a:pPr marL="0" indent="0" algn="l">
              <a:lnSpc>
                <a:spcPts val="1680"/>
              </a:lnSpc>
              <a:buNone/>
            </a:pPr>
            <a:r>
              <a:rPr lang="en-US" sz="1200" b="1" dirty="0">
                <a:solidFill>
                  <a:srgbClr val="152033"/>
                </a:solidFill>
                <a:latin typeface="Arial" pitchFamily="34" charset="0"/>
                <a:ea typeface="Arial" pitchFamily="34" charset="-122"/>
                <a:cs typeface="Arial" pitchFamily="34" charset="-120"/>
              </a:rPr>
              <a:t>Proven matches &amp; value changes</a:t>
            </a:r>
            <a:endParaRPr lang="en-US" sz="1200" dirty="0">
              <a:latin typeface="Arial"/>
            </a:endParaRPr>
          </a:p>
          <a:p>
            <a:pPr marL="0" indent="0" algn="l">
              <a:lnSpc>
                <a:spcPts val="1680"/>
              </a:lnSpc>
              <a:buNone/>
            </a:pPr>
            <a:r>
              <a:rPr lang="en-US" sz="1200" dirty="0">
                <a:solidFill>
                  <a:srgbClr val="45506A"/>
                </a:solidFill>
                <a:latin typeface="Arial" pitchFamily="34" charset="0"/>
                <a:ea typeface="Arial" pitchFamily="34" charset="-122"/>
                <a:cs typeface="Arial" pitchFamily="34" charset="-120"/>
              </a:rPr>
              <a:t>Exact checks distinguish same values from genuine changes</a:t>
            </a:r>
            <a:endParaRPr lang="en-US" sz="1200" dirty="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152033"/>
        </a:solidFill>
        <a:effectLst/>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6BA"/>
                </a:solidFill>
                <a:latin typeface="Arial" pitchFamily="34" charset="0"/>
                <a:ea typeface="Arial" pitchFamily="34" charset="-122"/>
                <a:cs typeface="Arial" pitchFamily="34" charset="-120"/>
              </a:rPr>
              <a:t>Agentic Recon Analyser · 5 / 9</a:t>
            </a:r>
            <a:endParaRPr lang="en-US" sz="1200" dirty="0">
              <a:latin typeface="Arial"/>
            </a:endParaR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A55"/>
                </a:solidFill>
                <a:latin typeface="Arial" pitchFamily="34" charset="0"/>
                <a:ea typeface="Arial" pitchFamily="34" charset="-122"/>
                <a:cs typeface="Arial" pitchFamily="34" charset="-120"/>
              </a:rPr>
              <a:t>BUSINESS IMPACT</a:t>
            </a:r>
            <a:endParaRPr lang="en-US" sz="1200" dirty="0">
              <a:latin typeface="Arial"/>
            </a:endParaRPr>
          </a:p>
        </p:txBody>
      </p:sp>
      <p:sp>
        <p:nvSpPr>
          <p:cNvPr id="4" name="Text 2"/>
          <p:cNvSpPr>
            <a:spLocks noGrp="1"/>
          </p:cNvSpPr>
          <p:nvPr>
            <p:ph type="title"/>
          </p:nvPr>
        </p:nvSpPr>
        <p:spPr>
          <a:xfrm>
            <a:off x="812800" y="8991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6F4EF"/>
                </a:solidFill>
                <a:latin typeface="Arial" pitchFamily="18" charset="0"/>
                <a:ea typeface="Arial" pitchFamily="18" charset="-122"/>
                <a:cs typeface="Arial" pitchFamily="18" charset="-120"/>
              </a:rPr>
              <a:t>Review mismatches across all tables in one run</a:t>
            </a:r>
            <a:endParaRPr lang="en-US" sz="2800" dirty="0">
              <a:latin typeface="Arial"/>
            </a:endParaRPr>
          </a:p>
        </p:txBody>
      </p:sp>
      <p:sp>
        <p:nvSpPr>
          <p:cNvPr id="5" name="Shape 3"/>
          <p:cNvSpPr/>
          <p:nvPr/>
        </p:nvSpPr>
        <p:spPr>
          <a:xfrm>
            <a:off x="815975" y="1514475"/>
            <a:ext cx="5168900" cy="3092450"/>
          </a:xfrm>
          <a:prstGeom prst="roundRect">
            <a:avLst>
              <a:gd name="adj" fmla="val 3183"/>
            </a:avLst>
          </a:prstGeom>
          <a:solidFill>
            <a:srgbClr val="1B2840"/>
          </a:solidFill>
          <a:ln w="6350">
            <a:solidFill>
              <a:srgbClr val="33415C"/>
            </a:solidFill>
            <a:prstDash val="solid"/>
          </a:ln>
        </p:spPr>
      </p:sp>
      <p:sp>
        <p:nvSpPr>
          <p:cNvPr id="6" name="Text 4"/>
          <p:cNvSpPr/>
          <p:nvPr/>
        </p:nvSpPr>
        <p:spPr>
          <a:xfrm>
            <a:off x="1047750" y="1746250"/>
            <a:ext cx="484651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A6BA"/>
                </a:solidFill>
                <a:latin typeface="Arial" pitchFamily="34" charset="0"/>
                <a:ea typeface="Arial" pitchFamily="34" charset="-122"/>
                <a:cs typeface="Arial" pitchFamily="34" charset="-120"/>
              </a:rPr>
              <a:t>BEFORE · MANUAL REVIEW</a:t>
            </a:r>
            <a:endParaRPr lang="en-US" sz="1200" dirty="0">
              <a:latin typeface="Arial"/>
            </a:endParaRPr>
          </a:p>
        </p:txBody>
      </p:sp>
      <p:sp>
        <p:nvSpPr>
          <p:cNvPr id="7" name="Text 5"/>
          <p:cNvSpPr/>
          <p:nvPr/>
        </p:nvSpPr>
        <p:spPr>
          <a:xfrm>
            <a:off x="1047750" y="2010370"/>
            <a:ext cx="4846511"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6F4EF"/>
                </a:solidFill>
                <a:latin typeface="Arial" pitchFamily="34" charset="0"/>
                <a:ea typeface="Arial" pitchFamily="34" charset="-122"/>
                <a:cs typeface="Arial" pitchFamily="34" charset="-120"/>
              </a:rPr>
              <a:t>~1 hour</a:t>
            </a:r>
            <a:endParaRPr lang="en-US" sz="4800" dirty="0">
              <a:latin typeface="Arial"/>
            </a:endParaRPr>
          </a:p>
        </p:txBody>
      </p:sp>
      <p:sp>
        <p:nvSpPr>
          <p:cNvPr id="8" name="Text 6"/>
          <p:cNvSpPr/>
          <p:nvPr/>
        </p:nvSpPr>
        <p:spPr>
          <a:xfrm>
            <a:off x="1047750" y="2731691"/>
            <a:ext cx="48465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E0"/>
                </a:solidFill>
                <a:latin typeface="Arial" pitchFamily="34" charset="0"/>
                <a:ea typeface="Arial" pitchFamily="34" charset="-122"/>
                <a:cs typeface="Arial" pitchFamily="34" charset="-120"/>
              </a:rPr>
              <a:t>per table, per run; repeat after each fix</a:t>
            </a:r>
            <a:endParaRPr lang="en-US" sz="1200" dirty="0">
              <a:latin typeface="Arial"/>
            </a:endParaRPr>
          </a:p>
        </p:txBody>
      </p:sp>
      <p:sp>
        <p:nvSpPr>
          <p:cNvPr id="9" name="Text 7"/>
          <p:cNvSpPr/>
          <p:nvPr/>
        </p:nvSpPr>
        <p:spPr>
          <a:xfrm>
            <a:off x="1125982" y="3371850"/>
            <a:ext cx="4760658" cy="102076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C9D2E0"/>
                </a:solidFill>
                <a:latin typeface="Arial" pitchFamily="34" charset="0"/>
                <a:ea typeface="Arial" pitchFamily="34" charset="-122"/>
                <a:cs typeface="Arial" pitchFamily="34" charset="-120"/>
              </a:rPr>
              <a:t>Go through mismatches table by table</a:t>
            </a:r>
            <a:endParaRPr lang="en-US" sz="1400" dirty="0">
              <a:latin typeface="Arial"/>
            </a:endParaRPr>
          </a:p>
          <a:p>
            <a:pPr marL="175768" indent="-175768" algn="l">
              <a:lnSpc>
                <a:spcPts val="1960"/>
              </a:lnSpc>
              <a:buSzPct val="100000"/>
              <a:buChar char="•"/>
            </a:pPr>
            <a:r>
              <a:rPr lang="en-US" sz="1400" dirty="0">
                <a:solidFill>
                  <a:srgbClr val="C9D2E0"/>
                </a:solidFill>
                <a:latin typeface="Arial" pitchFamily="34" charset="0"/>
                <a:ea typeface="Arial" pitchFamily="34" charset="-122"/>
                <a:cs typeface="Arial" pitchFamily="34" charset="-120"/>
              </a:rPr>
              <a:t>Sort formatting noise from real changes by hand</a:t>
            </a:r>
            <a:endParaRPr lang="en-US" sz="1400" dirty="0">
              <a:latin typeface="Arial"/>
            </a:endParaRPr>
          </a:p>
          <a:p>
            <a:pPr marL="175768" indent="-175768" algn="l">
              <a:lnSpc>
                <a:spcPts val="1960"/>
              </a:lnSpc>
              <a:buSzPct val="100000"/>
              <a:buChar char="•"/>
            </a:pPr>
            <a:r>
              <a:rPr lang="en-US" sz="1400" dirty="0">
                <a:solidFill>
                  <a:srgbClr val="C9D2E0"/>
                </a:solidFill>
                <a:latin typeface="Arial" pitchFamily="34" charset="0"/>
                <a:ea typeface="Arial" pitchFamily="34" charset="-122"/>
                <a:cs typeface="Arial" pitchFamily="34" charset="-120"/>
              </a:rPr>
              <a:t>Real differences easy to miss in the noise</a:t>
            </a:r>
            <a:endParaRPr lang="en-US" sz="1400" dirty="0">
              <a:latin typeface="Arial"/>
            </a:endParaRPr>
          </a:p>
          <a:p>
            <a:pPr marL="175768" indent="-175768" algn="l">
              <a:lnSpc>
                <a:spcPts val="1960"/>
              </a:lnSpc>
              <a:buSzPct val="100000"/>
              <a:buChar char="•"/>
            </a:pPr>
            <a:r>
              <a:rPr lang="en-US" sz="1400" dirty="0">
                <a:solidFill>
                  <a:srgbClr val="C9D2E0"/>
                </a:solidFill>
                <a:latin typeface="Arial" pitchFamily="34" charset="0"/>
                <a:ea typeface="Arial" pitchFamily="34" charset="-122"/>
                <a:cs typeface="Arial" pitchFamily="34" charset="-120"/>
              </a:rPr>
              <a:t>The same issue chased in every table</a:t>
            </a:r>
            <a:endParaRPr lang="en-US" sz="1400" dirty="0">
              <a:latin typeface="Arial"/>
            </a:endParaRPr>
          </a:p>
        </p:txBody>
      </p:sp>
      <p:sp>
        <p:nvSpPr>
          <p:cNvPr id="10" name="Shape 8"/>
          <p:cNvSpPr/>
          <p:nvPr/>
        </p:nvSpPr>
        <p:spPr>
          <a:xfrm>
            <a:off x="6197600" y="1517650"/>
            <a:ext cx="5175250" cy="3086100"/>
          </a:xfrm>
          <a:prstGeom prst="roundRect">
            <a:avLst>
              <a:gd name="adj" fmla="val 3086"/>
            </a:avLst>
          </a:prstGeom>
          <a:solidFill>
            <a:srgbClr val="1B2840"/>
          </a:solidFill>
          <a:ln w="12700">
            <a:solidFill>
              <a:srgbClr val="F08A55"/>
            </a:solidFill>
            <a:prstDash val="solid"/>
          </a:ln>
        </p:spPr>
      </p:sp>
      <p:sp>
        <p:nvSpPr>
          <p:cNvPr id="11" name="Text 9"/>
          <p:cNvSpPr/>
          <p:nvPr/>
        </p:nvSpPr>
        <p:spPr>
          <a:xfrm>
            <a:off x="6432550" y="1752600"/>
            <a:ext cx="484651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A55"/>
                </a:solidFill>
                <a:latin typeface="Arial" pitchFamily="34" charset="0"/>
                <a:ea typeface="Arial" pitchFamily="34" charset="-122"/>
                <a:cs typeface="Arial" pitchFamily="34" charset="-120"/>
              </a:rPr>
              <a:t>AFTER · AGENTIC ANALYSER</a:t>
            </a:r>
            <a:endParaRPr lang="en-US" sz="1200" dirty="0">
              <a:latin typeface="Arial"/>
            </a:endParaRPr>
          </a:p>
        </p:txBody>
      </p:sp>
      <p:sp>
        <p:nvSpPr>
          <p:cNvPr id="12" name="Text 10"/>
          <p:cNvSpPr/>
          <p:nvPr/>
        </p:nvSpPr>
        <p:spPr>
          <a:xfrm>
            <a:off x="6432550" y="2016720"/>
            <a:ext cx="4846511"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6F4EF"/>
                </a:solidFill>
                <a:latin typeface="Arial" pitchFamily="34" charset="0"/>
                <a:ea typeface="Arial" pitchFamily="34" charset="-122"/>
                <a:cs typeface="Arial" pitchFamily="34" charset="-120"/>
              </a:rPr>
              <a:t>↓ 90%</a:t>
            </a:r>
            <a:endParaRPr lang="en-US" sz="4800" dirty="0">
              <a:latin typeface="Arial"/>
            </a:endParaRPr>
          </a:p>
        </p:txBody>
      </p:sp>
      <p:sp>
        <p:nvSpPr>
          <p:cNvPr id="13" name="Text 11"/>
          <p:cNvSpPr/>
          <p:nvPr/>
        </p:nvSpPr>
        <p:spPr>
          <a:xfrm>
            <a:off x="6432550" y="2738041"/>
            <a:ext cx="48465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E0"/>
                </a:solidFill>
                <a:latin typeface="Arial" pitchFamily="34" charset="0"/>
                <a:ea typeface="Arial" pitchFamily="34" charset="-122"/>
                <a:cs typeface="Arial" pitchFamily="34" charset="-120"/>
              </a:rPr>
              <a:t>less manual review time per table (6 min); repeat after each fix</a:t>
            </a:r>
            <a:endParaRPr lang="en-US" sz="1200" dirty="0">
              <a:latin typeface="Arial"/>
            </a:endParaRPr>
          </a:p>
        </p:txBody>
      </p:sp>
      <p:sp>
        <p:nvSpPr>
          <p:cNvPr id="14" name="Text 12"/>
          <p:cNvSpPr/>
          <p:nvPr/>
        </p:nvSpPr>
        <p:spPr>
          <a:xfrm>
            <a:off x="6510815" y="3378200"/>
            <a:ext cx="4760625" cy="1016000"/>
          </a:xfrm>
          <a:prstGeom prst="rect">
            <a:avLst/>
          </a:prstGeom>
          <a:noFill/>
          <a:ln/>
        </p:spPr>
        <p:txBody>
          <a:bodyPr wrap="square" lIns="0" tIns="0" rIns="0" bIns="0" rtlCol="0" anchor="t">
            <a:normAutofit/>
          </a:bodyPr>
          <a:lstStyle/>
          <a:p>
            <a:pPr marL="175735" indent="-175735" algn="l">
              <a:lnSpc>
                <a:spcPts val="1954"/>
              </a:lnSpc>
              <a:buSzPct val="100000"/>
              <a:buChar char="•"/>
            </a:pPr>
            <a:r>
              <a:rPr lang="en-US" sz="1396" dirty="0">
                <a:solidFill>
                  <a:srgbClr val="F6F4EF"/>
                </a:solidFill>
                <a:latin typeface="Arial" pitchFamily="34" charset="0"/>
                <a:ea typeface="Arial" pitchFamily="34" charset="-122"/>
                <a:cs typeface="Arial" pitchFamily="34" charset="-120"/>
              </a:rPr>
              <a:t>Review classified findings</a:t>
            </a:r>
            <a:endParaRPr lang="en-US" sz="1396" dirty="0">
              <a:latin typeface="Arial"/>
            </a:endParaRPr>
          </a:p>
          <a:p>
            <a:pPr marL="175735" indent="-175735" algn="l">
              <a:lnSpc>
                <a:spcPts val="1954"/>
              </a:lnSpc>
              <a:buSzPct val="100000"/>
              <a:buChar char="•"/>
            </a:pPr>
            <a:r>
              <a:rPr lang="en-US" sz="1396" dirty="0">
                <a:solidFill>
                  <a:srgbClr val="F6F4EF"/>
                </a:solidFill>
                <a:latin typeface="Arial" pitchFamily="34" charset="0"/>
                <a:ea typeface="Arial" pitchFamily="34" charset="-122"/>
                <a:cs typeface="Arial" pitchFamily="34" charset="-120"/>
              </a:rPr>
              <a:t>Focus on important or uncertain differences</a:t>
            </a:r>
            <a:endParaRPr lang="en-US" sz="1396" dirty="0">
              <a:latin typeface="Arial"/>
            </a:endParaRPr>
          </a:p>
          <a:p>
            <a:pPr marL="175735" indent="-175735" algn="l">
              <a:lnSpc>
                <a:spcPts val="1954"/>
              </a:lnSpc>
              <a:buSzPct val="100000"/>
              <a:buChar char="•"/>
            </a:pPr>
            <a:r>
              <a:rPr lang="en-US" sz="1396" dirty="0">
                <a:solidFill>
                  <a:srgbClr val="F6F4EF"/>
                </a:solidFill>
                <a:latin typeface="Arial" pitchFamily="34" charset="0"/>
                <a:ea typeface="Arial" pitchFamily="34" charset="-122"/>
                <a:cs typeface="Arial" pitchFamily="34" charset="-120"/>
              </a:rPr>
              <a:t>Investigate recurring issues across tables together</a:t>
            </a:r>
            <a:endParaRPr lang="en-US" sz="1396" dirty="0">
              <a:latin typeface="Arial"/>
            </a:endParaRPr>
          </a:p>
          <a:p>
            <a:pPr marL="175735" indent="-175735" algn="l">
              <a:lnSpc>
                <a:spcPts val="1954"/>
              </a:lnSpc>
              <a:buSzPct val="100000"/>
              <a:buChar char="•"/>
            </a:pPr>
            <a:r>
              <a:rPr lang="en-US" sz="1396" dirty="0">
                <a:solidFill>
                  <a:srgbClr val="F6F4EF"/>
                </a:solidFill>
                <a:latin typeface="Arial" pitchFamily="34" charset="0"/>
                <a:ea typeface="Arial" pitchFamily="34" charset="-122"/>
                <a:cs typeface="Arial" pitchFamily="34" charset="-120"/>
              </a:rPr>
              <a:t>Report available in HTML and Excel</a:t>
            </a:r>
            <a:endParaRPr lang="en-US" sz="1396" dirty="0">
              <a:latin typeface="Arial"/>
            </a:endParaRPr>
          </a:p>
        </p:txBody>
      </p:sp>
      <p:sp>
        <p:nvSpPr>
          <p:cNvPr id="15" name="Text 13"/>
          <p:cNvSpPr/>
          <p:nvPr/>
        </p:nvSpPr>
        <p:spPr>
          <a:xfrm>
            <a:off x="812800" y="4806950"/>
            <a:ext cx="10566400" cy="628650"/>
          </a:xfrm>
          <a:prstGeom prst="roundRect">
            <a:avLst>
              <a:gd name="adj" fmla="val 16162"/>
            </a:avLst>
          </a:prstGeom>
          <a:solidFill>
            <a:srgbClr val="F08A55"/>
          </a:solidFill>
          <a:ln/>
        </p:spPr>
        <p:txBody>
          <a:bodyPr wrap="square" lIns="198842" tIns="122642" rIns="0" bIns="101112" rtlCol="0" anchor="t">
            <a:normAutofit/>
          </a:bodyPr>
          <a:lstStyle/>
          <a:p>
            <a:pPr marL="0" indent="0" algn="l">
              <a:lnSpc>
                <a:spcPts val="2520"/>
              </a:lnSpc>
              <a:buNone/>
            </a:pPr>
            <a:r>
              <a:rPr lang="en-US" sz="1800" b="1" dirty="0">
                <a:solidFill>
                  <a:srgbClr val="152033"/>
                </a:solidFill>
                <a:latin typeface="Arial" pitchFamily="34" charset="0"/>
                <a:ea typeface="Arial" pitchFamily="34" charset="-122"/>
                <a:cs typeface="Arial" pitchFamily="34" charset="-120"/>
              </a:rPr>
              <a:t>Investigate root causes using prioritized findings</a:t>
            </a:r>
            <a:endParaRPr lang="en-US" sz="1800" dirty="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457200" y="60960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716"/>
                </a:solidFill>
                <a:latin typeface="Arial" pitchFamily="34" charset="0"/>
                <a:ea typeface="Arial" pitchFamily="34" charset="-122"/>
                <a:cs typeface="Arial" pitchFamily="34" charset="-120"/>
              </a:rPr>
              <a:t>79 TEST CASES · EACH ROW IS A DIFFERENCE THE ANALYSER MUST NAME · 1 OF 4</a:t>
            </a:r>
            <a:endParaRPr lang="en-US" sz="1200" dirty="0">
              <a:latin typeface="Arial"/>
            </a:endParaRPr>
          </a:p>
        </p:txBody>
      </p:sp>
      <p:sp>
        <p:nvSpPr>
          <p:cNvPr id="3" name="Text 1"/>
          <p:cNvSpPr>
            <a:spLocks noGrp="1"/>
          </p:cNvSpPr>
          <p:nvPr>
            <p:ph type="title"/>
          </p:nvPr>
        </p:nvSpPr>
        <p:spPr>
          <a:xfrm>
            <a:off x="457200" y="899120"/>
            <a:ext cx="11615928"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52033"/>
                </a:solidFill>
                <a:latin typeface="Arial" pitchFamily="18" charset="0"/>
                <a:ea typeface="Arial" pitchFamily="18" charset="-122"/>
                <a:cs typeface="Arial" pitchFamily="18" charset="-120"/>
              </a:rPr>
              <a:t>Number and boolean test cases</a:t>
            </a:r>
            <a:endParaRPr lang="en-US" sz="2800" dirty="0">
              <a:latin typeface="Arial"/>
            </a:endParaRPr>
          </a:p>
        </p:txBody>
      </p:sp>
      <p:sp>
        <p:nvSpPr>
          <p:cNvPr id="4" name="Shape 2"/>
          <p:cNvSpPr/>
          <p:nvPr/>
        </p:nvSpPr>
        <p:spPr>
          <a:xfrm>
            <a:off x="457200" y="1460401"/>
            <a:ext cx="5562600" cy="3632200"/>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69900" y="1473101"/>
          <a:ext cx="5549900" cy="3619500"/>
        </p:xfrm>
        <a:graphic>
          <a:graphicData uri="http://schemas.openxmlformats.org/drawingml/2006/table">
            <a:tbl>
              <a:tblPr/>
              <a:tblGrid>
                <a:gridCol w="832485">
                  <a:extLst>
                    <a:ext uri="{9D8B030D-6E8A-4147-A177-3AD203B41FA5}">
                      <a16:colId xmlns:a16="http://schemas.microsoft.com/office/drawing/2014/main" val="20000"/>
                    </a:ext>
                  </a:extLst>
                </a:gridCol>
                <a:gridCol w="2386457">
                  <a:extLst>
                    <a:ext uri="{9D8B030D-6E8A-4147-A177-3AD203B41FA5}">
                      <a16:colId xmlns:a16="http://schemas.microsoft.com/office/drawing/2014/main" val="20001"/>
                    </a:ext>
                  </a:extLst>
                </a:gridCol>
                <a:gridCol w="2330958">
                  <a:extLst>
                    <a:ext uri="{9D8B030D-6E8A-4147-A177-3AD203B41FA5}">
                      <a16:colId xmlns:a16="http://schemas.microsoft.com/office/drawing/2014/main" val="20002"/>
                    </a:ext>
                  </a:extLst>
                </a:gridCol>
              </a:tblGrid>
              <a:tr h="241300">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Type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Source value → target value</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Detected pattern</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extLst>
                  <a:ext uri="{0D108BD9-81ED-4DB2-BD59-A6C34878D82A}">
                    <a16:rowId xmlns:a16="http://schemas.microsoft.com/office/drawing/2014/main" val="1000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000123 → 123</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leading_zero_diff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1,000 → 1000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numeric_thousands_sep_diff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2"/>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 → 5.0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numeric_scale_diff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 → 5</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numeric_sign_format_diff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4"/>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(500) → -500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accounting_negative_diff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 → 7</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6"/>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1000000 → 1E+06</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numeric_scientific_notation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INTEGER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500- → -500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numeric_sign_format_diff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8"/>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Y → true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boolean_format_diff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9"/>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Y → N</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boolean_value_diff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 → 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boolean_value_diff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1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 → true</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boolean_format_diff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2"/>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 → 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boolean_value_diff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13"/>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yes → Y</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boolean_format_diff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4"/>
                  </a:ext>
                </a:extLst>
              </a:tr>
            </a:tbl>
          </a:graphicData>
        </a:graphic>
      </p:graphicFrame>
      <p:sp>
        <p:nvSpPr>
          <p:cNvPr id="6" name="Shape 3"/>
          <p:cNvSpPr/>
          <p:nvPr/>
        </p:nvSpPr>
        <p:spPr>
          <a:xfrm>
            <a:off x="6172200" y="1460401"/>
            <a:ext cx="5562600" cy="3632200"/>
          </a:xfrm>
          <a:prstGeom prst="rect">
            <a:avLst/>
          </a:prstGeom>
          <a:solidFill>
            <a:srgbClr val="FFFDF8"/>
          </a:solidFill>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84900" y="1473101"/>
          <a:ext cx="5549900" cy="3619500"/>
        </p:xfrm>
        <a:graphic>
          <a:graphicData uri="http://schemas.openxmlformats.org/drawingml/2006/table">
            <a:tbl>
              <a:tblPr/>
              <a:tblGrid>
                <a:gridCol w="832485">
                  <a:extLst>
                    <a:ext uri="{9D8B030D-6E8A-4147-A177-3AD203B41FA5}">
                      <a16:colId xmlns:a16="http://schemas.microsoft.com/office/drawing/2014/main" val="20000"/>
                    </a:ext>
                  </a:extLst>
                </a:gridCol>
                <a:gridCol w="2386457">
                  <a:extLst>
                    <a:ext uri="{9D8B030D-6E8A-4147-A177-3AD203B41FA5}">
                      <a16:colId xmlns:a16="http://schemas.microsoft.com/office/drawing/2014/main" val="20001"/>
                    </a:ext>
                  </a:extLst>
                </a:gridCol>
                <a:gridCol w="2330958">
                  <a:extLst>
                    <a:ext uri="{9D8B030D-6E8A-4147-A177-3AD203B41FA5}">
                      <a16:colId xmlns:a16="http://schemas.microsoft.com/office/drawing/2014/main" val="20002"/>
                    </a:ext>
                  </a:extLst>
                </a:gridCol>
              </a:tblGrid>
              <a:tr h="241300">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Type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Source value → target value</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Detected pattern</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extLst>
                  <a:ext uri="{0D108BD9-81ED-4DB2-BD59-A6C34878D82A}">
                    <a16:rowId xmlns:a16="http://schemas.microsoft.com/office/drawing/2014/main" val="1000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DECIMAL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10.00 → 10.0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numeric_scale_diff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DECIMAL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1,234.50 → 1234.50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numeric_thousands_sep_diff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2"/>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DECIMAL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99.456789 → 99.46</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numeric_rounding</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DECIMAL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100.00 → 150.00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4"/>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DECIMAL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$10.00 → 10.00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currency_symbol_diff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DECIMAL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500.00- → 500.0-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numeric_scale_diff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6"/>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DECIMAL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10.00% → 10.0%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numeric_scale_diff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FLOAT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0.3 → 0.30000000000000004</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float_precision_noise</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8"/>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FLOAT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2.675 → 2.6749999999999998</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float_precision_noise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9"/>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FLOAT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 → 1</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numeric_scale_diff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FLOAT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0.1 → 0.10000000000000001</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float_precision_noise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1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DOUBLE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Infinity → (blank)</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missing_in_target</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2"/>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DOUBLE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inf → 1.0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infinity_value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13"/>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DOUBLE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NaN → (blank)</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null_representation_diff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4"/>
                  </a:ext>
                </a:extLst>
              </a:tr>
            </a:tbl>
          </a:graphicData>
        </a:graphic>
      </p:graphicFrame>
      <p:sp>
        <p:nvSpPr>
          <p:cNvPr id="8" name="Text 4"/>
          <p:cNvSpPr/>
          <p:nvPr/>
        </p:nvSpPr>
        <p:spPr>
          <a:xfrm>
            <a:off x="457200" y="623828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Arial" pitchFamily="34" charset="0"/>
                <a:ea typeface="Arial" pitchFamily="34" charset="-122"/>
                <a:cs typeface="Arial" pitchFamily="34" charset="-120"/>
              </a:rPr>
              <a:t>Agentic Recon Analyser · 5 / 9</a:t>
            </a:r>
            <a:endParaRPr lang="en-US" sz="1200" dirty="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457200" y="60960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716"/>
                </a:solidFill>
                <a:latin typeface="Arial" pitchFamily="34" charset="0"/>
                <a:ea typeface="Arial" pitchFamily="34" charset="-122"/>
                <a:cs typeface="Arial" pitchFamily="34" charset="-120"/>
              </a:rPr>
              <a:t>TEST CASES · 2 OF 4</a:t>
            </a:r>
            <a:endParaRPr lang="en-US" sz="1200" dirty="0">
              <a:latin typeface="Arial"/>
            </a:endParaRPr>
          </a:p>
        </p:txBody>
      </p:sp>
      <p:sp>
        <p:nvSpPr>
          <p:cNvPr id="3" name="Text 1"/>
          <p:cNvSpPr>
            <a:spLocks noGrp="1"/>
          </p:cNvSpPr>
          <p:nvPr>
            <p:ph type="title"/>
          </p:nvPr>
        </p:nvSpPr>
        <p:spPr>
          <a:xfrm>
            <a:off x="457200" y="899120"/>
            <a:ext cx="11615928"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52033"/>
                </a:solidFill>
                <a:latin typeface="Arial" pitchFamily="18" charset="0"/>
                <a:ea typeface="Arial" pitchFamily="18" charset="-122"/>
                <a:cs typeface="Arial" pitchFamily="18" charset="-120"/>
              </a:rPr>
              <a:t>Date, null and text test cases</a:t>
            </a:r>
            <a:endParaRPr lang="en-US" sz="2800" dirty="0">
              <a:latin typeface="Arial"/>
            </a:endParaRPr>
          </a:p>
        </p:txBody>
      </p:sp>
      <p:sp>
        <p:nvSpPr>
          <p:cNvPr id="4" name="Shape 2"/>
          <p:cNvSpPr/>
          <p:nvPr/>
        </p:nvSpPr>
        <p:spPr>
          <a:xfrm>
            <a:off x="457200" y="1460401"/>
            <a:ext cx="5562600" cy="3860800"/>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69900" y="1473101"/>
          <a:ext cx="5549900" cy="3997643"/>
        </p:xfrm>
        <a:graphic>
          <a:graphicData uri="http://schemas.openxmlformats.org/drawingml/2006/table">
            <a:tbl>
              <a:tblPr/>
              <a:tblGrid>
                <a:gridCol w="832485">
                  <a:extLst>
                    <a:ext uri="{9D8B030D-6E8A-4147-A177-3AD203B41FA5}">
                      <a16:colId xmlns:a16="http://schemas.microsoft.com/office/drawing/2014/main" val="20000"/>
                    </a:ext>
                  </a:extLst>
                </a:gridCol>
                <a:gridCol w="2386457">
                  <a:extLst>
                    <a:ext uri="{9D8B030D-6E8A-4147-A177-3AD203B41FA5}">
                      <a16:colId xmlns:a16="http://schemas.microsoft.com/office/drawing/2014/main" val="20001"/>
                    </a:ext>
                  </a:extLst>
                </a:gridCol>
                <a:gridCol w="2330958">
                  <a:extLst>
                    <a:ext uri="{9D8B030D-6E8A-4147-A177-3AD203B41FA5}">
                      <a16:colId xmlns:a16="http://schemas.microsoft.com/office/drawing/2014/main" val="20002"/>
                    </a:ext>
                  </a:extLst>
                </a:gridCol>
              </a:tblGrid>
              <a:tr h="241300">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Type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Source value → target value</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Detected pattern</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extLst>
                  <a:ext uri="{0D108BD9-81ED-4DB2-BD59-A6C34878D82A}">
                    <a16:rowId xmlns:a16="http://schemas.microsoft.com/office/drawing/2014/main" val="1000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2024-01-05 → 20240105</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date_format_diff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2024-02-10 → 2024-02-10 00:00:00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date_format_diff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2"/>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2024-01-02T08:30:00 → 2024-01-02 08:30:00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date_format_diff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2024-01-01 00:00:00.000 → 2024-01-01 00:00:00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date_format_diff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4"/>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2024-03-01 → 2024-03-02</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TIMESTAMP</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2024-01-01T00:00:00Z → 2024-01-01 00:00:00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timezone_marker_diff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6"/>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TIMESTAMP</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1704067200 → 2024-01-01 00:00:00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epoch_vs_formatted_date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TIMESTAMP</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1704067200000 → 2024-01-01 00:00:00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epoch_vs_formatted_date</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8"/>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 → (blank)</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null_representation_diff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9"/>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2024-06-01 → (blank)</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missing_in_target</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(blank) → 2024-06-01</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missing_in_source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1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 → (blank)</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null_representation_diff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2"/>
                  </a:ext>
                </a:extLst>
              </a:tr>
            </a:tbl>
          </a:graphicData>
        </a:graphic>
      </p:graphicFrame>
      <p:sp>
        <p:nvSpPr>
          <p:cNvPr id="6" name="Shape 3"/>
          <p:cNvSpPr/>
          <p:nvPr/>
        </p:nvSpPr>
        <p:spPr>
          <a:xfrm>
            <a:off x="6172200" y="1460401"/>
            <a:ext cx="5562600" cy="3327400"/>
          </a:xfrm>
          <a:prstGeom prst="rect">
            <a:avLst/>
          </a:prstGeom>
          <a:solidFill>
            <a:srgbClr val="FFFDF8"/>
          </a:solidFill>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84900" y="1473101"/>
          <a:ext cx="5549900" cy="3314700"/>
        </p:xfrm>
        <a:graphic>
          <a:graphicData uri="http://schemas.openxmlformats.org/drawingml/2006/table">
            <a:tbl>
              <a:tblPr/>
              <a:tblGrid>
                <a:gridCol w="832485">
                  <a:extLst>
                    <a:ext uri="{9D8B030D-6E8A-4147-A177-3AD203B41FA5}">
                      <a16:colId xmlns:a16="http://schemas.microsoft.com/office/drawing/2014/main" val="20000"/>
                    </a:ext>
                  </a:extLst>
                </a:gridCol>
                <a:gridCol w="2386457">
                  <a:extLst>
                    <a:ext uri="{9D8B030D-6E8A-4147-A177-3AD203B41FA5}">
                      <a16:colId xmlns:a16="http://schemas.microsoft.com/office/drawing/2014/main" val="20001"/>
                    </a:ext>
                  </a:extLst>
                </a:gridCol>
                <a:gridCol w="2330958">
                  <a:extLst>
                    <a:ext uri="{9D8B030D-6E8A-4147-A177-3AD203B41FA5}">
                      <a16:colId xmlns:a16="http://schemas.microsoft.com/office/drawing/2014/main" val="20002"/>
                    </a:ext>
                  </a:extLst>
                </a:gridCol>
              </a:tblGrid>
              <a:tr h="241300">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Type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Source value → target value</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Detected pattern</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extLst>
                  <a:ext uri="{0D108BD9-81ED-4DB2-BD59-A6C34878D82A}">
                    <a16:rowId xmlns:a16="http://schemas.microsoft.com/office/drawing/2014/main" val="1000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 BOB ' → BOB</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whitespace_only</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jane doe → JANE DOE</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case_difference</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2"/>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  B' → A B</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whitespace_internal</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JOSÉ → JOSE</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unicode_fold_diff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4"/>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MÜLLER → M?LLER</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encoding_loss</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CHRISTOPHER ALEXANDER → CHRISTOPHER</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truncated_in_target</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6"/>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it’s fine → it's fine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typographic_diff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a—b → a-b</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typographic_diff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8"/>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CLOSED → CANCELLED</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9"/>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123-45-6789 → 123456789</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punct_removed_in_target:-</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C:\data\in → C:/data/in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separator_format_diff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1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TEXT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12"2 → 122</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punct_removed_in_target:"</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2"/>
                  </a:ext>
                </a:extLst>
              </a:tr>
            </a:tbl>
          </a:graphicData>
        </a:graphic>
      </p:graphicFrame>
      <p:sp>
        <p:nvSpPr>
          <p:cNvPr id="8" name="Text 4"/>
          <p:cNvSpPr/>
          <p:nvPr/>
        </p:nvSpPr>
        <p:spPr>
          <a:xfrm>
            <a:off x="457200" y="623828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Arial" pitchFamily="34" charset="0"/>
                <a:ea typeface="Arial" pitchFamily="34" charset="-122"/>
                <a:cs typeface="Arial" pitchFamily="34" charset="-120"/>
              </a:rPr>
              <a:t>Agentic Recon Analyser · 6 / 9</a:t>
            </a:r>
            <a:endParaRPr lang="en-US" sz="1200"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457200" y="60960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716"/>
                </a:solidFill>
                <a:latin typeface="Arial" pitchFamily="34" charset="0"/>
                <a:ea typeface="Arial" pitchFamily="34" charset="-122"/>
                <a:cs typeface="Arial" pitchFamily="34" charset="-120"/>
              </a:rPr>
              <a:t>TEST CASES · 20 TRAPS · 3 OF 4</a:t>
            </a:r>
            <a:endParaRPr lang="en-US" sz="1200" dirty="0">
              <a:latin typeface="Arial"/>
            </a:endParaRPr>
          </a:p>
        </p:txBody>
      </p:sp>
      <p:sp>
        <p:nvSpPr>
          <p:cNvPr id="3" name="Text 1"/>
          <p:cNvSpPr>
            <a:spLocks noGrp="1"/>
          </p:cNvSpPr>
          <p:nvPr>
            <p:ph type="title"/>
          </p:nvPr>
        </p:nvSpPr>
        <p:spPr>
          <a:xfrm>
            <a:off x="457200" y="899120"/>
            <a:ext cx="11615928"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52033"/>
                </a:solidFill>
                <a:latin typeface="Arial" pitchFamily="18" charset="0"/>
                <a:ea typeface="Arial" pitchFamily="18" charset="-122"/>
                <a:cs typeface="Arial" pitchFamily="18" charset="-120"/>
              </a:rPr>
              <a:t>Differences that look harmless but are not</a:t>
            </a:r>
            <a:endParaRPr lang="en-US" sz="2800" dirty="0">
              <a:latin typeface="Arial"/>
            </a:endParaRPr>
          </a:p>
        </p:txBody>
      </p:sp>
      <p:sp>
        <p:nvSpPr>
          <p:cNvPr id="4" name="Text 2"/>
          <p:cNvSpPr/>
          <p:nvPr/>
        </p:nvSpPr>
        <p:spPr>
          <a:xfrm>
            <a:off x="457200" y="1460401"/>
            <a:ext cx="1161592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5506A"/>
                </a:solidFill>
                <a:latin typeface="Arial" pitchFamily="34" charset="0"/>
                <a:ea typeface="Arial" pitchFamily="34" charset="-122"/>
                <a:cs typeface="Arial" pitchFamily="34" charset="-120"/>
              </a:rPr>
              <a:t>A careless check would call each of these harmless. The analyser must flag every one.</a:t>
            </a:r>
            <a:endParaRPr lang="en-US" sz="1400" dirty="0">
              <a:latin typeface="Arial"/>
            </a:endParaRPr>
          </a:p>
        </p:txBody>
      </p:sp>
      <p:sp>
        <p:nvSpPr>
          <p:cNvPr id="5" name="Shape 3"/>
          <p:cNvSpPr/>
          <p:nvPr/>
        </p:nvSpPr>
        <p:spPr>
          <a:xfrm>
            <a:off x="457200" y="1861641"/>
            <a:ext cx="5562600" cy="2844800"/>
          </a:xfrm>
          <a:prstGeom prst="rect">
            <a:avLst/>
          </a:prstGeom>
          <a:solidFill>
            <a:srgbClr val="FFFDF8"/>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9900" y="1874341"/>
          <a:ext cx="5549900" cy="2832100"/>
        </p:xfrm>
        <a:graphic>
          <a:graphicData uri="http://schemas.openxmlformats.org/drawingml/2006/table">
            <a:tbl>
              <a:tblPr/>
              <a:tblGrid>
                <a:gridCol w="832485">
                  <a:extLst>
                    <a:ext uri="{9D8B030D-6E8A-4147-A177-3AD203B41FA5}">
                      <a16:colId xmlns:a16="http://schemas.microsoft.com/office/drawing/2014/main" val="20000"/>
                    </a:ext>
                  </a:extLst>
                </a:gridCol>
                <a:gridCol w="2386457">
                  <a:extLst>
                    <a:ext uri="{9D8B030D-6E8A-4147-A177-3AD203B41FA5}">
                      <a16:colId xmlns:a16="http://schemas.microsoft.com/office/drawing/2014/main" val="20001"/>
                    </a:ext>
                  </a:extLst>
                </a:gridCol>
                <a:gridCol w="2330958">
                  <a:extLst>
                    <a:ext uri="{9D8B030D-6E8A-4147-A177-3AD203B41FA5}">
                      <a16:colId xmlns:a16="http://schemas.microsoft.com/office/drawing/2014/main" val="20002"/>
                    </a:ext>
                  </a:extLst>
                </a:gridCol>
              </a:tblGrid>
              <a:tr h="241300">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Column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Source value → target value</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Detected pattern</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extLst>
                  <a:ext uri="{0D108BD9-81ED-4DB2-BD59-A6C34878D82A}">
                    <a16:rowId xmlns:a16="http://schemas.microsoft.com/office/drawing/2014/main" val="10000"/>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12345678901234567.89 → 12345678901234567.88</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1234567890.12 → 1234567890.13</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2"/>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rate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50% → 50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percent_sign_diff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fee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$10.00 → €10.00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currency_symbol_changed</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4"/>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code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12,34 → 1234</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ambiguous_decimal_comma</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1,5 → 1.5</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ambiguous_decimal_comma</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6"/>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code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v1.10 → v11.0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acct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12-345 → 123-45</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8"/>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A中B → AB</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9"/>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open_date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01/05/2024 → 2024-01-05</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date_ambiguous_order</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0"/>
                  </a:ext>
                </a:extLst>
              </a:tr>
            </a:tbl>
          </a:graphicData>
        </a:graphic>
      </p:graphicFrame>
      <p:sp>
        <p:nvSpPr>
          <p:cNvPr id="7" name="Shape 4"/>
          <p:cNvSpPr/>
          <p:nvPr/>
        </p:nvSpPr>
        <p:spPr>
          <a:xfrm>
            <a:off x="6172200" y="1861641"/>
            <a:ext cx="5562600" cy="3022600"/>
          </a:xfrm>
          <a:prstGeom prst="rect">
            <a:avLst/>
          </a:prstGeom>
          <a:solidFill>
            <a:srgbClr val="FFFDF8"/>
          </a:solidFill>
          <a:ln/>
        </p:spPr>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184900" y="1874341"/>
          <a:ext cx="5549900" cy="3009900"/>
        </p:xfrm>
        <a:graphic>
          <a:graphicData uri="http://schemas.openxmlformats.org/drawingml/2006/table">
            <a:tbl>
              <a:tblPr/>
              <a:tblGrid>
                <a:gridCol w="832485">
                  <a:extLst>
                    <a:ext uri="{9D8B030D-6E8A-4147-A177-3AD203B41FA5}">
                      <a16:colId xmlns:a16="http://schemas.microsoft.com/office/drawing/2014/main" val="20000"/>
                    </a:ext>
                  </a:extLst>
                </a:gridCol>
                <a:gridCol w="2386457">
                  <a:extLst>
                    <a:ext uri="{9D8B030D-6E8A-4147-A177-3AD203B41FA5}">
                      <a16:colId xmlns:a16="http://schemas.microsoft.com/office/drawing/2014/main" val="20001"/>
                    </a:ext>
                  </a:extLst>
                </a:gridCol>
                <a:gridCol w="2330958">
                  <a:extLst>
                    <a:ext uri="{9D8B030D-6E8A-4147-A177-3AD203B41FA5}">
                      <a16:colId xmlns:a16="http://schemas.microsoft.com/office/drawing/2014/main" val="20002"/>
                    </a:ext>
                  </a:extLst>
                </a:gridCol>
              </a:tblGrid>
              <a:tr h="241300">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Column</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Source value → target value</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400"/>
                        </a:lnSpc>
                        <a:buNone/>
                      </a:pPr>
                      <a:r>
                        <a:rPr lang="en-US" sz="1000" b="1" dirty="0">
                          <a:solidFill>
                            <a:srgbClr val="F6F4EF"/>
                          </a:solidFill>
                          <a:latin typeface="Arial" pitchFamily="34" charset="0"/>
                          <a:ea typeface="Arial" pitchFamily="34" charset="-122"/>
                          <a:cs typeface="Arial" pitchFamily="34" charset="-120"/>
                        </a:rPr>
                        <a:t>Detected pattern</a:t>
                      </a:r>
                      <a:endParaRPr lang="en-US" sz="1000" dirty="0">
                        <a:latin typeface="Arial" charset="0"/>
                        <a:ea typeface="Arial" charset="0"/>
                        <a:cs typeface="Arial" charset="0"/>
                      </a:endParaRPr>
                    </a:p>
                  </a:txBody>
                  <a:tcPr marL="50800" marR="50800" marT="25400" marB="254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extLst>
                  <a:ext uri="{0D108BD9-81ED-4DB2-BD59-A6C34878D82A}">
                    <a16:rowId xmlns:a16="http://schemas.microsoft.com/office/drawing/2014/main" val="10000"/>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open_date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 → 2024-01-01</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date_incomplete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txn_ts</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2024-01-01 00:00:00.123456789 → 2024-01-01 00:00:00.123456</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date_value_diff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2"/>
                  </a:ext>
                </a:extLst>
              </a:tr>
              <a:tr h="4191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txn_ts</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1704067200 → 2024-01-01 00:00:00.900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code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 → 12-3</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4"/>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10 → 10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no_actual_diff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rate</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99.456789012345678 → 99.46</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numeric_rounding</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6"/>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500- → 500</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1,234.50- → 1234.50</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8"/>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12- → 12</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numeric_value_diff</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9"/>
                  </a:ext>
                </a:extLst>
              </a:tr>
              <a:tr h="241300">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qty</a:t>
                      </a:r>
                      <a:endParaRPr lang="en-US" sz="1000" dirty="0">
                        <a:latin typeface="Arial" charset="0"/>
                        <a:ea typeface="Arial" charset="0"/>
                        <a:cs typeface="Arial" charset="0"/>
                      </a:endParaRPr>
                    </a:p>
                  </a:txBody>
                  <a:tcPr marL="50800" marR="50800" marT="25400" marB="254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1 → true</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400"/>
                        </a:lnSpc>
                        <a:buNone/>
                      </a:pPr>
                      <a:r>
                        <a:rPr lang="en-US" sz="1000" dirty="0">
                          <a:solidFill>
                            <a:srgbClr val="152033"/>
                          </a:solidFill>
                          <a:latin typeface="Arial" pitchFamily="34" charset="0"/>
                          <a:ea typeface="Arial" pitchFamily="34" charset="-122"/>
                          <a:cs typeface="Arial" pitchFamily="34" charset="-120"/>
                        </a:rPr>
                        <a:t>value_diff</a:t>
                      </a:r>
                      <a:endParaRPr lang="en-US" sz="1000" dirty="0">
                        <a:latin typeface="Arial" charset="0"/>
                        <a:ea typeface="Arial" charset="0"/>
                        <a:cs typeface="Arial" charset="0"/>
                      </a:endParaRPr>
                    </a:p>
                  </a:txBody>
                  <a:tcPr marL="50800" marR="50800" marT="25400" marB="254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10"/>
                  </a:ext>
                </a:extLst>
              </a:tr>
            </a:tbl>
          </a:graphicData>
        </a:graphic>
      </p:graphicFrame>
      <p:sp>
        <p:nvSpPr>
          <p:cNvPr id="9" name="Text 5"/>
          <p:cNvSpPr/>
          <p:nvPr/>
        </p:nvSpPr>
        <p:spPr>
          <a:xfrm>
            <a:off x="457200" y="623828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Arial" pitchFamily="34" charset="0"/>
                <a:ea typeface="Arial" pitchFamily="34" charset="-122"/>
                <a:cs typeface="Arial" pitchFamily="34" charset="-120"/>
              </a:rPr>
              <a:t>Agentic Recon Analyser · 7 / 9</a:t>
            </a:r>
            <a:endParaRPr lang="en-US" sz="1200" dirty="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457200" y="60960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716"/>
                </a:solidFill>
                <a:latin typeface="Arial" pitchFamily="34" charset="0"/>
                <a:ea typeface="Arial" pitchFamily="34" charset="-122"/>
                <a:cs typeface="Arial" pitchFamily="34" charset="-120"/>
              </a:rPr>
              <a:t>TEST CASES · 4 OF 4</a:t>
            </a:r>
            <a:endParaRPr lang="en-US" sz="1200" dirty="0">
              <a:latin typeface="Arial"/>
            </a:endParaRPr>
          </a:p>
        </p:txBody>
      </p:sp>
      <p:sp>
        <p:nvSpPr>
          <p:cNvPr id="3" name="Text 1"/>
          <p:cNvSpPr>
            <a:spLocks noGrp="1"/>
          </p:cNvSpPr>
          <p:nvPr>
            <p:ph type="title"/>
          </p:nvPr>
        </p:nvSpPr>
        <p:spPr>
          <a:xfrm>
            <a:off x="457200" y="899120"/>
            <a:ext cx="11615928"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52033"/>
                </a:solidFill>
                <a:latin typeface="Arial" pitchFamily="18" charset="0"/>
                <a:ea typeface="Arial" pitchFamily="18" charset="-122"/>
                <a:cs typeface="Arial" pitchFamily="18" charset="-120"/>
              </a:rPr>
              <a:t>Firm answers wherever the data allows</a:t>
            </a:r>
            <a:endParaRPr lang="en-US" sz="2800" dirty="0">
              <a:latin typeface="Arial"/>
            </a:endParaRPr>
          </a:p>
        </p:txBody>
      </p:sp>
      <p:sp>
        <p:nvSpPr>
          <p:cNvPr id="4" name="Shape 2"/>
          <p:cNvSpPr/>
          <p:nvPr/>
        </p:nvSpPr>
        <p:spPr>
          <a:xfrm>
            <a:off x="457200" y="1460401"/>
            <a:ext cx="11277600" cy="2633663"/>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69900" y="1473101"/>
          <a:ext cx="11264900" cy="2620960"/>
        </p:xfrm>
        <a:graphic>
          <a:graphicData uri="http://schemas.openxmlformats.org/drawingml/2006/table">
            <a:tbl>
              <a:tblPr/>
              <a:tblGrid>
                <a:gridCol w="1689735">
                  <a:extLst>
                    <a:ext uri="{9D8B030D-6E8A-4147-A177-3AD203B41FA5}">
                      <a16:colId xmlns:a16="http://schemas.microsoft.com/office/drawing/2014/main" val="20000"/>
                    </a:ext>
                  </a:extLst>
                </a:gridCol>
                <a:gridCol w="4843907">
                  <a:extLst>
                    <a:ext uri="{9D8B030D-6E8A-4147-A177-3AD203B41FA5}">
                      <a16:colId xmlns:a16="http://schemas.microsoft.com/office/drawing/2014/main" val="20001"/>
                    </a:ext>
                  </a:extLst>
                </a:gridCol>
                <a:gridCol w="4731258">
                  <a:extLst>
                    <a:ext uri="{9D8B030D-6E8A-4147-A177-3AD203B41FA5}">
                      <a16:colId xmlns:a16="http://schemas.microsoft.com/office/drawing/2014/main" val="20002"/>
                    </a:ext>
                  </a:extLst>
                </a:gridCol>
              </a:tblGrid>
              <a:tr h="327620">
                <a:tc>
                  <a:txBody>
                    <a:bodyPr/>
                    <a:lstStyle/>
                    <a:p>
                      <a:pPr marL="0" indent="0">
                        <a:lnSpc>
                          <a:spcPts val="1680"/>
                        </a:lnSpc>
                        <a:buNone/>
                      </a:pPr>
                      <a:r>
                        <a:rPr lang="en-US" sz="1200" b="1" dirty="0">
                          <a:solidFill>
                            <a:srgbClr val="F6F4EF"/>
                          </a:solidFill>
                          <a:latin typeface="Arial" pitchFamily="34" charset="0"/>
                          <a:ea typeface="Arial" pitchFamily="34" charset="-122"/>
                          <a:cs typeface="Arial" pitchFamily="34" charset="-120"/>
                        </a:rPr>
                        <a:t>Column</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680"/>
                        </a:lnSpc>
                        <a:buNone/>
                      </a:pPr>
                      <a:r>
                        <a:rPr lang="en-US" sz="1200" b="1" dirty="0">
                          <a:solidFill>
                            <a:srgbClr val="F6F4EF"/>
                          </a:solidFill>
                          <a:latin typeface="Arial" pitchFamily="34" charset="0"/>
                          <a:ea typeface="Arial" pitchFamily="34" charset="-122"/>
                          <a:cs typeface="Arial" pitchFamily="34" charset="-120"/>
                        </a:rPr>
                        <a:t>Source value → target value</a:t>
                      </a:r>
                      <a:endParaRPr lang="en-US" sz="1200" dirty="0">
                        <a:latin typeface="Arial" charset="0"/>
                        <a:ea typeface="Arial" charset="0"/>
                        <a:cs typeface="Arial" charset="0"/>
                      </a:endParaRPr>
                    </a:p>
                  </a:txBody>
                  <a:tcPr marL="88900" marR="88900" marT="50800" marB="508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tc>
                  <a:txBody>
                    <a:bodyPr/>
                    <a:lstStyle/>
                    <a:p>
                      <a:pPr marL="0" indent="0">
                        <a:lnSpc>
                          <a:spcPts val="1680"/>
                        </a:lnSpc>
                        <a:buNone/>
                      </a:pPr>
                      <a:r>
                        <a:rPr lang="en-US" sz="1200" b="1" dirty="0">
                          <a:solidFill>
                            <a:srgbClr val="F6F4EF"/>
                          </a:solidFill>
                          <a:latin typeface="Arial" pitchFamily="34" charset="0"/>
                          <a:ea typeface="Arial" pitchFamily="34" charset="-122"/>
                          <a:cs typeface="Arial" pitchFamily="34" charset="-120"/>
                        </a:rPr>
                        <a:t>Detected pattern</a:t>
                      </a:r>
                      <a:endParaRPr lang="en-US" sz="1200" dirty="0">
                        <a:latin typeface="Arial" charset="0"/>
                        <a:ea typeface="Arial" charset="0"/>
                        <a:cs typeface="Arial" charset="0"/>
                      </a:endParaRPr>
                    </a:p>
                  </a:txBody>
                  <a:tcPr marL="88900" marR="88900" marT="50800" marB="50800">
                    <a:lnL w="12700" cap="flat" cmpd="sng" algn="ctr">
                      <a:solidFill>
                        <a:srgbClr val="151D2C"/>
                      </a:solidFill>
                      <a:prstDash val="solid"/>
                      <a:round/>
                      <a:headEnd type="none" w="med" len="med"/>
                      <a:tailEnd type="none" w="med" len="med"/>
                    </a:lnL>
                    <a:lnR w="12700" cap="flat" cmpd="sng" algn="ctr">
                      <a:solidFill>
                        <a:srgbClr val="151D2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51D2C"/>
                      </a:solidFill>
                      <a:prstDash val="solid"/>
                      <a:round/>
                      <a:headEnd type="none" w="med" len="med"/>
                      <a:tailEnd type="none" w="med" len="med"/>
                    </a:lnB>
                    <a:solidFill>
                      <a:srgbClr val="152033"/>
                    </a:solidFill>
                  </a:tcPr>
                </a:tc>
                <a:extLst>
                  <a:ext uri="{0D108BD9-81ED-4DB2-BD59-A6C34878D82A}">
                    <a16:rowId xmlns:a16="http://schemas.microsoft.com/office/drawing/2014/main" val="10000"/>
                  </a:ext>
                </a:extLst>
              </a:tr>
              <a:tr h="327620">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open_date</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13/05/2024 → 2024-05-13</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date_format_diff</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51D2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327620">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open_date</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05/05/2024 → 2024-05-05</a:t>
                      </a:r>
                      <a:endParaRPr lang="en-US" sz="1200" dirty="0">
                        <a:latin typeface="Arial" charset="0"/>
                        <a:ea typeface="Arial" charset="0"/>
                        <a:cs typeface="Arial" charset="0"/>
                      </a:endParaRPr>
                    </a:p>
                  </a:txBody>
                  <a:tcPr marL="88900" marR="88900" marT="50800" marB="508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date_format_diff</a:t>
                      </a:r>
                      <a:endParaRPr lang="en-US" sz="1200" dirty="0">
                        <a:latin typeface="Arial" charset="0"/>
                        <a:ea typeface="Arial" charset="0"/>
                        <a:cs typeface="Arial" charset="0"/>
                      </a:endParaRPr>
                    </a:p>
                  </a:txBody>
                  <a:tcPr marL="88900" marR="88900" marT="50800" marB="508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2"/>
                  </a:ext>
                </a:extLst>
              </a:tr>
              <a:tr h="327620">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qty</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1,234 → 1234</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numeric_thousands_sep_diff</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327620">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price</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99.456789 → 99.460</a:t>
                      </a:r>
                      <a:endParaRPr lang="en-US" sz="1200" dirty="0">
                        <a:latin typeface="Arial" charset="0"/>
                        <a:ea typeface="Arial" charset="0"/>
                        <a:cs typeface="Arial" charset="0"/>
                      </a:endParaRPr>
                    </a:p>
                  </a:txBody>
                  <a:tcPr marL="88900" marR="88900" marT="50800" marB="508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numeric_rounding</a:t>
                      </a:r>
                      <a:endParaRPr lang="en-US" sz="1200" dirty="0">
                        <a:latin typeface="Arial" charset="0"/>
                        <a:ea typeface="Arial" charset="0"/>
                        <a:cs typeface="Arial" charset="0"/>
                      </a:endParaRPr>
                    </a:p>
                  </a:txBody>
                  <a:tcPr marL="88900" marR="88900" marT="50800" marB="508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4"/>
                  </a:ext>
                </a:extLst>
              </a:tr>
              <a:tr h="327620">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price</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12.34 → 12</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numeric_rounding</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327620">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price</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100.00 → 150.00</a:t>
                      </a:r>
                      <a:endParaRPr lang="en-US" sz="1200" dirty="0">
                        <a:latin typeface="Arial" charset="0"/>
                        <a:ea typeface="Arial" charset="0"/>
                        <a:cs typeface="Arial" charset="0"/>
                      </a:endParaRPr>
                    </a:p>
                  </a:txBody>
                  <a:tcPr marL="88900" marR="88900" marT="50800" marB="508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numeric_value_diff</a:t>
                      </a:r>
                      <a:endParaRPr lang="en-US" sz="1200" dirty="0">
                        <a:latin typeface="Arial" charset="0"/>
                        <a:ea typeface="Arial" charset="0"/>
                        <a:cs typeface="Arial" charset="0"/>
                      </a:endParaRPr>
                    </a:p>
                  </a:txBody>
                  <a:tcPr marL="88900" marR="88900" marT="50800" marB="50800">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extLst>
                  <a:ext uri="{0D108BD9-81ED-4DB2-BD59-A6C34878D82A}">
                    <a16:rowId xmlns:a16="http://schemas.microsoft.com/office/drawing/2014/main" val="10006"/>
                  </a:ext>
                </a:extLst>
              </a:tr>
              <a:tr h="327620">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open_date</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01/05/2024 → 03/07/2024</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680"/>
                        </a:lnSpc>
                        <a:buNone/>
                      </a:pPr>
                      <a:r>
                        <a:rPr lang="en-US" sz="1200" dirty="0">
                          <a:solidFill>
                            <a:srgbClr val="152033"/>
                          </a:solidFill>
                          <a:latin typeface="Arial" pitchFamily="34" charset="0"/>
                          <a:ea typeface="Arial" pitchFamily="34" charset="-122"/>
                          <a:cs typeface="Arial" pitchFamily="34" charset="-120"/>
                        </a:rPr>
                        <a:t>date_value_diff</a:t>
                      </a:r>
                      <a:endParaRPr lang="en-US" sz="1200" dirty="0">
                        <a:latin typeface="Arial" charset="0"/>
                        <a:ea typeface="Arial" charset="0"/>
                        <a:cs typeface="Arial" charset="0"/>
                      </a:endParaRPr>
                    </a:p>
                  </a:txBody>
                  <a:tcPr marL="88900" marR="88900" marT="50800" marB="508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457200" y="4246463"/>
            <a:ext cx="1161592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5506A"/>
                </a:solidFill>
                <a:latin typeface="Arial" pitchFamily="34" charset="0"/>
                <a:ea typeface="Arial" pitchFamily="34" charset="-122"/>
                <a:cs typeface="Arial" pitchFamily="34" charset="-120"/>
              </a:rPr>
              <a:t>These cases check the opposite risk to the traps. When two values are provably the same data written differently, such as 13/05/2024 and 2024-05-13, the analyser classifies it as a formatting difference, not a real change. When values really differ, such as 100.00 and 150.00, or a rounded 99.456789 and 99.460, it reports a real value difference.</a:t>
            </a:r>
            <a:endParaRPr lang="en-US" sz="1400" dirty="0">
              <a:latin typeface="Arial"/>
            </a:endParaRPr>
          </a:p>
        </p:txBody>
      </p:sp>
      <p:sp>
        <p:nvSpPr>
          <p:cNvPr id="7" name="Text 4"/>
          <p:cNvSpPr/>
          <p:nvPr/>
        </p:nvSpPr>
        <p:spPr>
          <a:xfrm>
            <a:off x="457200" y="6238280"/>
            <a:ext cx="116159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Arial" pitchFamily="34" charset="0"/>
                <a:ea typeface="Arial" pitchFamily="34" charset="-122"/>
                <a:cs typeface="Arial" pitchFamily="34" charset="-120"/>
              </a:rPr>
              <a:t>Agentic Recon Analyser · 8 / 9</a:t>
            </a:r>
            <a:endParaRPr lang="en-US" sz="1200" dirty="0">
              <a:latin typeface="Arial"/>
            </a:endParaRPr>
          </a:p>
        </p:txBody>
      </p:sp>
    </p:spTree>
  </p:cSld>
  <p:clrMapOvr>
    <a:masterClrMapping/>
  </p:clrMapOvr>
</p:sld>
</file>

<file path=ppt/theme/theme1.xml><?xml version="1.0" encoding="utf-8"?>
<a:theme xmlns:a="http://schemas.openxmlformats.org/drawingml/2006/main" name="Agentic Recon Analyser (v2)">
  <a:themeElements>
    <a:clrScheme name="Agentic Recon Analyser (v2)">
      <a:dk1>
        <a:srgbClr val="152033"/>
      </a:dk1>
      <a:lt1>
        <a:srgbClr val="F6F4EF"/>
      </a:lt1>
      <a:dk2>
        <a:srgbClr val="4D5562"/>
      </a:dk2>
      <a:lt2>
        <a:srgbClr val="E0DFDC"/>
      </a:lt2>
      <a:accent1>
        <a:srgbClr val="B04716"/>
      </a:accent1>
      <a:accent2>
        <a:srgbClr val="F08A55"/>
      </a:accent2>
      <a:accent3>
        <a:srgbClr val="2F6FB0"/>
      </a:accent3>
      <a:accent4>
        <a:srgbClr val="45506A"/>
      </a:accent4>
      <a:accent5>
        <a:srgbClr val="C9D2E0"/>
      </a:accent5>
      <a:accent6>
        <a:srgbClr val="5F6878"/>
      </a:accent6>
      <a:hlink>
        <a:srgbClr val="0563C1"/>
      </a:hlink>
      <a:folHlink>
        <a:srgbClr val="954F72"/>
      </a:folHlink>
    </a:clrScheme>
    <a:fontScheme name="Agentic Recon Analyser (v2)">
      <a:maj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ajorFont>
      <a:min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anose="02110004020202020204"/>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ajorFont>
      <a:minorFont>
        <a:latin typeface="Arial" panose="02110004020202020204"/>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2530</Words>
  <Application>Microsoft Office PowerPoint</Application>
  <PresentationFormat>Widescreen</PresentationFormat>
  <Paragraphs>371</Paragraphs>
  <Slides>9</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Agentic Recon Analyser (v2)</vt:lpstr>
      <vt:lpstr>Agentic Recon Analyser</vt:lpstr>
      <vt:lpstr>The comparison was automated. Investigating them was not.</vt:lpstr>
      <vt:lpstr>Agentic Recon Analyser</vt:lpstr>
      <vt:lpstr>What the AnalyserChecks</vt:lpstr>
      <vt:lpstr>Review mismatches across all tables in one run</vt:lpstr>
      <vt:lpstr>Number and boolean test cases</vt:lpstr>
      <vt:lpstr>Date, null and text test cases</vt:lpstr>
      <vt:lpstr>Differences that look harmless but are not</vt:lpstr>
      <vt:lpstr>Firm answers wherever the data allows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Recon Analyser (v2)</dc:title>
  <dc:subject/>
  <dc:creator/>
  <cp:lastModifiedBy>sanjay madala</cp:lastModifiedBy>
  <cp:revision>3</cp:revision>
  <dcterms:created xsi:type="dcterms:W3CDTF">2026-10-11T13:48:06Z</dcterms:created>
  <dcterms:modified xsi:type="dcterms:W3CDTF">2026-10-13T16:22:24Z</dcterms:modified>
</cp:coreProperties>
</file>